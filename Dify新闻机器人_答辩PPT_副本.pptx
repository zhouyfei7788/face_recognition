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70" r:id="rId10"/>
    <p:sldId id="271" r:id="rId11"/>
    <p:sldId id="272" r:id="rId12"/>
    <p:sldId id="262" r:id="rId13"/>
    <p:sldId id="263" r:id="rId14"/>
    <p:sldId id="264" r:id="rId15"/>
    <p:sldId id="265" r:id="rId16"/>
  </p:sldIdLst>
  <p:sldSz cx="9144000" cy="5143500"/>
  <p:notesSz cx="5143500" cy="9144000"/>
  <p:custDataLst>
    <p:tags r:id="rId20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gs" Target="tags/tag2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tags" Target="../tags/tag4.xml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5" Type="http://schemas.openxmlformats.org/officeDocument/2006/relationships/notesSlide" Target="../notesSlides/notesSlide11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8.jpeg"/><Relationship Id="rId12" Type="http://schemas.openxmlformats.org/officeDocument/2006/relationships/image" Target="../media/image7.png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tags" Target="../tags/tag20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365D"/>
          </a:solidFill>
        </p:spPr>
      </p:sp>
      <p:pic>
        <p:nvPicPr>
          <p:cNvPr id="3" name="Image 0" descr="C:\Users\asus\.qclaw\media\inbound\09f035bd-c389-4961-9fe7-89c04750245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28016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0" y="1463040"/>
            <a:ext cx="48463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1A36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基于Dify平台的</a:t>
            </a:r>
            <a:endParaRPr lang="en-US" sz="3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1A36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智能新闻机器人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3840480" y="3200400"/>
            <a:ext cx="1645920" cy="41148"/>
          </a:xfrm>
          <a:prstGeom prst="rect">
            <a:avLst/>
          </a:prstGeom>
          <a:solidFill>
            <a:srgbClr val="2D8659"/>
          </a:solidFill>
        </p:spPr>
      </p:sp>
      <p:sp>
        <p:nvSpPr>
          <p:cNvPr id="6" name="Text 3"/>
          <p:cNvSpPr/>
          <p:nvPr/>
        </p:nvSpPr>
        <p:spPr>
          <a:xfrm>
            <a:off x="3840480" y="3383280"/>
            <a:ext cx="4846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Docker容器化部署 · 企业微信推送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840480" y="438912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六神无组    |    人工智能专业    |    2026年5月</a:t>
            </a:r>
            <a:endParaRPr lang="en-US" sz="1100" dirty="0"/>
          </a:p>
        </p:txBody>
      </p:sp>
      <p:pic>
        <p:nvPicPr>
          <p:cNvPr id="8" name="图片 7" descr="新对话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610" y="3108960"/>
            <a:ext cx="3535045" cy="1985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6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小组分工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914400" cy="32004"/>
          </a:xfrm>
          <a:prstGeom prst="rect">
            <a:avLst/>
          </a:prstGeom>
          <a:solidFill>
            <a:srgbClr val="2D8659"/>
          </a:solidFill>
        </p:spPr>
      </p:sp>
      <p:sp>
        <p:nvSpPr>
          <p:cNvPr id="4" name="Text 2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86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六神无组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97480" cy="33375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2697480" cy="7315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</p:sp>
      <p:sp>
        <p:nvSpPr>
          <p:cNvPr id="7" name="Text 5"/>
          <p:cNvSpPr/>
          <p:nvPr/>
        </p:nvSpPr>
        <p:spPr>
          <a:xfrm>
            <a:off x="640080" y="1737360"/>
            <a:ext cx="2331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胥雯强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5800" y="2212848"/>
            <a:ext cx="2240280" cy="347472"/>
          </a:xfrm>
          <a:prstGeom prst="roundRect">
            <a:avLst>
              <a:gd name="adj" fmla="val 10526"/>
            </a:avLst>
          </a:prstGeom>
          <a:solidFill>
            <a:srgbClr val="E8F5E9"/>
          </a:solidFill>
        </p:spPr>
      </p:sp>
      <p:sp>
        <p:nvSpPr>
          <p:cNvPr id="9" name="Text 7"/>
          <p:cNvSpPr/>
          <p:nvPr/>
        </p:nvSpPr>
        <p:spPr>
          <a:xfrm>
            <a:off x="685800" y="2231136"/>
            <a:ext cx="22402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86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工作流设计 &amp; PPT</a:t>
            </a:r>
            <a:r>
              <a:rPr lang="zh-CN" altLang="en-US" sz="1050" dirty="0">
                <a:solidFill>
                  <a:srgbClr val="2D86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制作</a:t>
            </a:r>
            <a:endParaRPr lang="zh-CN" altLang="en-US" sz="1050" dirty="0">
              <a:solidFill>
                <a:srgbClr val="2D86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" y="2743200"/>
            <a:ext cx="22860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 Dify 工作流节点编排与调试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337560"/>
            <a:ext cx="22860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 定时触发器、页面抓取节点配置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931920"/>
            <a:ext cx="22860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 PPT</a:t>
            </a:r>
            <a:r>
              <a:rPr lang="zh-CN" altLang="en-US" sz="110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制作</a:t>
            </a:r>
            <a:r>
              <a:rPr lang="zh-CN" altLang="en-US" sz="110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以及优化</a:t>
            </a:r>
            <a:endParaRPr lang="zh-CN" altLang="en-US" sz="1100" dirty="0">
              <a:solidFill>
                <a:srgbClr val="71809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337560" y="1508760"/>
            <a:ext cx="2697480" cy="33375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508760"/>
            <a:ext cx="2697480" cy="7315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15" name="Text 13"/>
          <p:cNvSpPr/>
          <p:nvPr/>
        </p:nvSpPr>
        <p:spPr>
          <a:xfrm>
            <a:off x="3520440" y="1737360"/>
            <a:ext cx="2331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廖志兵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566160" y="2212848"/>
            <a:ext cx="2240280" cy="347472"/>
          </a:xfrm>
          <a:prstGeom prst="roundRect">
            <a:avLst>
              <a:gd name="adj" fmla="val 10526"/>
            </a:avLst>
          </a:prstGeom>
          <a:solidFill>
            <a:srgbClr val="E8F5E9"/>
          </a:solidFill>
        </p:spPr>
        <p:txBody>
          <a:bodyPr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3566160" y="2231136"/>
            <a:ext cx="22402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86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容器化部署 &amp; 运维</a:t>
            </a:r>
            <a:endParaRPr lang="en-US" sz="1050" dirty="0">
              <a:solidFill>
                <a:srgbClr val="2D86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566160" y="2743200"/>
            <a:ext cx="22860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 Docker Compose 服务编排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0" y="3337560"/>
            <a:ext cx="22860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 Docker</a:t>
            </a:r>
            <a:r>
              <a:rPr lang="zh-CN" altLang="en-US" sz="110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</a:t>
            </a:r>
            <a:r>
              <a:rPr lang="en-US" sz="110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配置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3931920"/>
            <a:ext cx="22860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·  Python 代码节点：数据清洗与格式化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508760"/>
            <a:ext cx="2697480" cy="33375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508760"/>
            <a:ext cx="2697480" cy="73152"/>
          </a:xfrm>
          <a:prstGeom prst="rect">
            <a:avLst/>
          </a:prstGeom>
          <a:solidFill>
            <a:srgbClr val="36454F"/>
          </a:solidFill>
        </p:spPr>
      </p:sp>
      <p:sp>
        <p:nvSpPr>
          <p:cNvPr id="23" name="Text 21"/>
          <p:cNvSpPr/>
          <p:nvPr/>
        </p:nvSpPr>
        <p:spPr>
          <a:xfrm>
            <a:off x="6400800" y="1737360"/>
            <a:ext cx="2331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麦兰月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446520" y="2212848"/>
            <a:ext cx="2240280" cy="347472"/>
          </a:xfrm>
          <a:prstGeom prst="roundRect">
            <a:avLst>
              <a:gd name="adj" fmla="val 10526"/>
            </a:avLst>
          </a:prstGeom>
          <a:solidFill>
            <a:srgbClr val="E8F5E9"/>
          </a:solidFill>
        </p:spPr>
      </p:sp>
      <p:sp>
        <p:nvSpPr>
          <p:cNvPr id="25" name="Text 23"/>
          <p:cNvSpPr/>
          <p:nvPr/>
        </p:nvSpPr>
        <p:spPr>
          <a:xfrm>
            <a:off x="6446520" y="2231136"/>
            <a:ext cx="22402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en-US" sz="1050" dirty="0">
                <a:solidFill>
                  <a:srgbClr val="2D86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数据处理 &amp; 消息推送</a:t>
            </a:r>
            <a:endParaRPr lang="en-US" sz="1050" dirty="0">
              <a:solidFill>
                <a:srgbClr val="2D86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46520" y="2743200"/>
            <a:ext cx="22860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·  服务器部署与稳定性保障</a:t>
            </a:r>
            <a:endParaRPr lang="en-US" sz="1100" dirty="0">
              <a:solidFill>
                <a:srgbClr val="71809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46520" y="3337560"/>
            <a:ext cx="22860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 企业微信 Webhook 对接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3931920"/>
            <a:ext cx="22860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 Markdown 消息模板设计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9" dur="2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64909"/>
                                          </p:val>
                                        </p:tav>
                                        <p:tav tm="100000">
                                          <p:val>
                                            <p:fltVal val="0.195536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.62127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17" dur="2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8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64909"/>
                                          </p:val>
                                        </p:tav>
                                        <p:tav tm="100000">
                                          <p:val>
                                            <p:fltVal val="0.1975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9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.300444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95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212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31" dur="2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3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64909"/>
                                          </p:val>
                                        </p:tav>
                                        <p:tav tm="100000">
                                          <p:val>
                                            <p:fltVal val="0.1975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3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.377778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95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212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9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00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51" dur="2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5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64909"/>
                                          </p:val>
                                        </p:tav>
                                        <p:tav tm="100000">
                                          <p:val>
                                            <p:fltVal val="0.1975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3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.464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95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212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9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00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500"/>
                            </p:stCondLst>
                            <p:childTnLst>
                              <p:par>
                                <p:cTn id="67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9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77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0"/>
                            </p:stCondLst>
                            <p:childTnLst>
                              <p:par>
                                <p:cTn id="73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77" dur="2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78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64909"/>
                                          </p:val>
                                        </p:tav>
                                        <p:tav tm="100000">
                                          <p:val>
                                            <p:fltVal val="0.1975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79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.464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500"/>
                            </p:stCondLst>
                            <p:childTnLst>
                              <p:par>
                                <p:cTn id="8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95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212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000"/>
                            </p:stCondLst>
                            <p:childTnLst>
                              <p:par>
                                <p:cTn id="8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9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00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6500"/>
                            </p:stCondLst>
                            <p:childTnLst>
                              <p:par>
                                <p:cTn id="93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9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77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7000"/>
                            </p:stCondLst>
                            <p:childTnLst>
                              <p:par>
                                <p:cTn id="9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9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7500"/>
                            </p:stCondLst>
                            <p:childTnLst>
                              <p:par>
                                <p:cTn id="10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109" dur="2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1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64909"/>
                                          </p:val>
                                        </p:tav>
                                        <p:tav tm="100000">
                                          <p:val>
                                            <p:fltVal val="0.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1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.586667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8000"/>
                            </p:stCondLst>
                            <p:childTnLst>
                              <p:par>
                                <p:cTn id="11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95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212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8500"/>
                            </p:stCondLst>
                            <p:childTnLst>
                              <p:par>
                                <p:cTn id="11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9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00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9000"/>
                            </p:stCondLst>
                            <p:childTnLst>
                              <p:par>
                                <p:cTn id="125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9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77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9500"/>
                            </p:stCondLst>
                            <p:childTnLst>
                              <p:par>
                                <p:cTn id="13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9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0000"/>
                            </p:stCondLst>
                            <p:childTnLst>
                              <p:par>
                                <p:cTn id="137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8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9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0500"/>
                            </p:stCondLst>
                            <p:childTnLst>
                              <p:par>
                                <p:cTn id="143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147" dur="2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48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64909"/>
                                          </p:val>
                                        </p:tav>
                                        <p:tav tm="100000">
                                          <p:val>
                                            <p:fltVal val="0.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9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.702222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1000"/>
                            </p:stCondLst>
                            <p:childTnLst>
                              <p:par>
                                <p:cTn id="15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95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212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1500"/>
                            </p:stCondLst>
                            <p:childTnLst>
                              <p:par>
                                <p:cTn id="15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8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9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00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2000"/>
                            </p:stCondLst>
                            <p:childTnLst>
                              <p:par>
                                <p:cTn id="163" presetID="35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9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77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2500"/>
                            </p:stCondLst>
                            <p:childTnLst>
                              <p:par>
                                <p:cTn id="16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9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3000"/>
                            </p:stCondLst>
                            <p:childTnLst>
                              <p:par>
                                <p:cTn id="175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9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3500"/>
                            </p:stCondLst>
                            <p:childTnLst>
                              <p:par>
                                <p:cTn id="181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8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4000"/>
                            </p:stCondLst>
                            <p:childTnLst>
                              <p:par>
                                <p:cTn id="187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191" dur="2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9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64909"/>
                                          </p:val>
                                        </p:tav>
                                        <p:tav tm="100000">
                                          <p:val>
                                            <p:fltVal val="0.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93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.817778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4500"/>
                            </p:stCondLst>
                            <p:childTnLst>
                              <p:par>
                                <p:cTn id="19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95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212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15000"/>
                            </p:stCondLst>
                            <p:childTnLst>
                              <p:par>
                                <p:cTn id="20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9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00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15500"/>
                            </p:stCondLst>
                            <p:childTnLst>
                              <p:par>
                                <p:cTn id="207" presetID="35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8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9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77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16000"/>
                            </p:stCondLst>
                            <p:childTnLst>
                              <p:par>
                                <p:cTn id="21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9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16500"/>
                            </p:stCondLst>
                            <p:childTnLst>
                              <p:par>
                                <p:cTn id="219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9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17000"/>
                            </p:stCondLst>
                            <p:childTnLst>
                              <p:par>
                                <p:cTn id="225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8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17500"/>
                            </p:stCondLst>
                            <p:childTnLst>
                              <p:par>
                                <p:cTn id="231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3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70222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18000"/>
                            </p:stCondLst>
                            <p:childTnLst>
                              <p:par>
                                <p:cTn id="237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8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817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18500"/>
                            </p:stCondLst>
                            <p:childTnLst>
                              <p:par>
                                <p:cTn id="243" presetID="0" presetClass="entr" presetSubtype="0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4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24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62127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247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4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825536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19000"/>
                            </p:stCondLst>
                            <p:childTnLst>
                              <p:par>
                                <p:cTn id="250" presetID="0" presetClass="entr" presetSubtype="0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5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25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300444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25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5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8275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19500"/>
                            </p:stCondLst>
                            <p:childTnLst>
                              <p:par>
                                <p:cTn id="25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25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212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20000"/>
                            </p:stCondLst>
                            <p:childTnLst>
                              <p:par>
                                <p:cTn id="263" presetID="0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6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26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377778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267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6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8275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20500"/>
                            </p:stCondLst>
                            <p:childTnLst>
                              <p:par>
                                <p:cTn id="270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25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212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21000"/>
                            </p:stCondLst>
                            <p:childTnLst>
                              <p:par>
                                <p:cTn id="276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2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00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21500"/>
                            </p:stCondLst>
                            <p:childTnLst>
                              <p:par>
                                <p:cTn id="282" presetID="0" presetClass="entr" presetSubtype="0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8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28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464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28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8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8275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22000"/>
                            </p:stCondLst>
                            <p:childTnLst>
                              <p:par>
                                <p:cTn id="28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25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212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22500"/>
                            </p:stCondLst>
                            <p:childTnLst>
                              <p:par>
                                <p:cTn id="29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2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00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>
                            <p:stCondLst>
                              <p:cond delay="23000"/>
                            </p:stCondLst>
                            <p:childTnLst>
                              <p:par>
                                <p:cTn id="301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2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77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6" fill="hold">
                            <p:stCondLst>
                              <p:cond delay="23500"/>
                            </p:stCondLst>
                            <p:childTnLst>
                              <p:par>
                                <p:cTn id="307" presetID="0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0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31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464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311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31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8275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24000"/>
                            </p:stCondLst>
                            <p:childTnLst>
                              <p:par>
                                <p:cTn id="314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25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212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24500"/>
                            </p:stCondLst>
                            <p:childTnLst>
                              <p:par>
                                <p:cTn id="320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2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00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25000"/>
                            </p:stCondLst>
                            <p:childTnLst>
                              <p:par>
                                <p:cTn id="326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2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77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25500"/>
                            </p:stCondLst>
                            <p:childTnLst>
                              <p:par>
                                <p:cTn id="332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2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26000"/>
                            </p:stCondLst>
                            <p:childTnLst>
                              <p:par>
                                <p:cTn id="338" presetID="0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4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34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586667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34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34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83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4" fill="hold">
                            <p:stCondLst>
                              <p:cond delay="26500"/>
                            </p:stCondLst>
                            <p:childTnLst>
                              <p:par>
                                <p:cTn id="34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25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212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>
                            <p:stCondLst>
                              <p:cond delay="27000"/>
                            </p:stCondLst>
                            <p:childTnLst>
                              <p:par>
                                <p:cTn id="35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2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00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6" fill="hold">
                            <p:stCondLst>
                              <p:cond delay="27500"/>
                            </p:stCondLst>
                            <p:childTnLst>
                              <p:par>
                                <p:cTn id="357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2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77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2" fill="hold">
                            <p:stCondLst>
                              <p:cond delay="28000"/>
                            </p:stCondLst>
                            <p:childTnLst>
                              <p:par>
                                <p:cTn id="36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2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8" fill="hold">
                            <p:stCondLst>
                              <p:cond delay="28500"/>
                            </p:stCondLst>
                            <p:childTnLst>
                              <p:par>
                                <p:cTn id="369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2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4" fill="hold">
                            <p:stCondLst>
                              <p:cond delay="29000"/>
                            </p:stCondLst>
                            <p:childTnLst>
                              <p:par>
                                <p:cTn id="375" presetID="0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37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702222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379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38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83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1" fill="hold">
                            <p:stCondLst>
                              <p:cond delay="29500"/>
                            </p:stCondLst>
                            <p:childTnLst>
                              <p:par>
                                <p:cTn id="382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25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212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7" fill="hold">
                            <p:stCondLst>
                              <p:cond delay="30000"/>
                            </p:stCondLst>
                            <p:childTnLst>
                              <p:par>
                                <p:cTn id="388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2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00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3" fill="hold">
                            <p:stCondLst>
                              <p:cond delay="30500"/>
                            </p:stCondLst>
                            <p:childTnLst>
                              <p:par>
                                <p:cTn id="394" presetID="35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2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77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9" fill="hold">
                            <p:stCondLst>
                              <p:cond delay="31000"/>
                            </p:stCondLst>
                            <p:childTnLst>
                              <p:par>
                                <p:cTn id="400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2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5" fill="hold">
                            <p:stCondLst>
                              <p:cond delay="31500"/>
                            </p:stCondLst>
                            <p:childTnLst>
                              <p:par>
                                <p:cTn id="406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2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32000"/>
                            </p:stCondLst>
                            <p:childTnLst>
                              <p:par>
                                <p:cTn id="412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8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7" fill="hold">
                            <p:stCondLst>
                              <p:cond delay="32500"/>
                            </p:stCondLst>
                            <p:childTnLst>
                              <p:par>
                                <p:cTn id="418" presetID="0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2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42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817778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42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42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83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4" fill="hold">
                            <p:stCondLst>
                              <p:cond delay="33000"/>
                            </p:stCondLst>
                            <p:childTnLst>
                              <p:par>
                                <p:cTn id="42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25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212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>
                            <p:stCondLst>
                              <p:cond delay="33500"/>
                            </p:stCondLst>
                            <p:childTnLst>
                              <p:par>
                                <p:cTn id="43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2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00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6" fill="hold">
                            <p:stCondLst>
                              <p:cond delay="34000"/>
                            </p:stCondLst>
                            <p:childTnLst>
                              <p:par>
                                <p:cTn id="437" presetID="35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2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77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2" fill="hold">
                            <p:stCondLst>
                              <p:cond delay="34500"/>
                            </p:stCondLst>
                            <p:childTnLst>
                              <p:par>
                                <p:cTn id="44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2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8" fill="hold">
                            <p:stCondLst>
                              <p:cond delay="35000"/>
                            </p:stCondLst>
                            <p:childTnLst>
                              <p:par>
                                <p:cTn id="449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2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4" fill="hold">
                            <p:stCondLst>
                              <p:cond delay="35500"/>
                            </p:stCondLst>
                            <p:childTnLst>
                              <p:par>
                                <p:cTn id="455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8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0" fill="hold">
                            <p:stCondLst>
                              <p:cond delay="36000"/>
                            </p:stCondLst>
                            <p:childTnLst>
                              <p:par>
                                <p:cTn id="461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70222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6" fill="hold">
                            <p:stCondLst>
                              <p:cond delay="36500"/>
                            </p:stCondLst>
                            <p:childTnLst>
                              <p:par>
                                <p:cTn id="467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817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2" fill="hold">
                            <p:stCondLst>
                              <p:cond delay="37000"/>
                            </p:stCondLst>
                            <p:childTnLst>
                              <p:par>
                                <p:cTn id="473" presetID="0" presetClass="entr" presetSubtype="0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7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47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62127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477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47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510536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9" fill="hold">
                            <p:stCondLst>
                              <p:cond delay="37500"/>
                            </p:stCondLst>
                            <p:childTnLst>
                              <p:par>
                                <p:cTn id="480" presetID="0" presetClass="entr" presetSubtype="0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8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48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300444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48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48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5125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6" fill="hold">
                            <p:stCondLst>
                              <p:cond delay="38000"/>
                            </p:stCondLst>
                            <p:childTnLst>
                              <p:par>
                                <p:cTn id="48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0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212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2" fill="hold">
                            <p:stCondLst>
                              <p:cond delay="38500"/>
                            </p:stCondLst>
                            <p:childTnLst>
                              <p:par>
                                <p:cTn id="493" presetID="0" presetClass="entr" presetSubtype="0" ac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9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49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377778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497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49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5125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9" fill="hold">
                            <p:stCondLst>
                              <p:cond delay="39000"/>
                            </p:stCondLst>
                            <p:childTnLst>
                              <p:par>
                                <p:cTn id="500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0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212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5" fill="hold">
                            <p:stCondLst>
                              <p:cond delay="39500"/>
                            </p:stCondLst>
                            <p:childTnLst>
                              <p:par>
                                <p:cTn id="506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00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1" fill="hold">
                            <p:stCondLst>
                              <p:cond delay="40000"/>
                            </p:stCondLst>
                            <p:childTnLst>
                              <p:par>
                                <p:cTn id="512" presetID="0" presetClass="entr" presetSubtype="0" ac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1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51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464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51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51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5125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8" fill="hold">
                            <p:stCondLst>
                              <p:cond delay="40500"/>
                            </p:stCondLst>
                            <p:childTnLst>
                              <p:par>
                                <p:cTn id="51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0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212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4" fill="hold">
                            <p:stCondLst>
                              <p:cond delay="41000"/>
                            </p:stCondLst>
                            <p:childTnLst>
                              <p:par>
                                <p:cTn id="52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00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0" fill="hold">
                            <p:stCondLst>
                              <p:cond delay="41500"/>
                            </p:stCondLst>
                            <p:childTnLst>
                              <p:par>
                                <p:cTn id="531" presetID="35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77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6" fill="hold">
                            <p:stCondLst>
                              <p:cond delay="42000"/>
                            </p:stCondLst>
                            <p:childTnLst>
                              <p:par>
                                <p:cTn id="537" presetID="0" presetClass="entr" presetSubtype="0" ac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3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54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464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541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54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5125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3" fill="hold">
                            <p:stCondLst>
                              <p:cond delay="42500"/>
                            </p:stCondLst>
                            <p:childTnLst>
                              <p:par>
                                <p:cTn id="544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0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212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9" fill="hold">
                            <p:stCondLst>
                              <p:cond delay="43000"/>
                            </p:stCondLst>
                            <p:childTnLst>
                              <p:par>
                                <p:cTn id="550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00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5" fill="hold">
                            <p:stCondLst>
                              <p:cond delay="43500"/>
                            </p:stCondLst>
                            <p:childTnLst>
                              <p:par>
                                <p:cTn id="556" presetID="35" presetClass="path" presetSubtype="0" accel="50000" decel="5000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77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1" fill="hold">
                            <p:stCondLst>
                              <p:cond delay="44000"/>
                            </p:stCondLst>
                            <p:childTnLst>
                              <p:par>
                                <p:cTn id="562" presetID="35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7" fill="hold">
                            <p:stCondLst>
                              <p:cond delay="44500"/>
                            </p:stCondLst>
                            <p:childTnLst>
                              <p:par>
                                <p:cTn id="568" presetID="0" presetClass="entr" presetSubtype="0" ac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7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57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586667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57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57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515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4" fill="hold">
                            <p:stCondLst>
                              <p:cond delay="45000"/>
                            </p:stCondLst>
                            <p:childTnLst>
                              <p:par>
                                <p:cTn id="57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0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212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0" fill="hold">
                            <p:stCondLst>
                              <p:cond delay="45500"/>
                            </p:stCondLst>
                            <p:childTnLst>
                              <p:par>
                                <p:cTn id="58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00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6" fill="hold">
                            <p:stCondLst>
                              <p:cond delay="46000"/>
                            </p:stCondLst>
                            <p:childTnLst>
                              <p:par>
                                <p:cTn id="587" presetID="35" presetClass="path" presetSubtype="0" accel="50000" decel="5000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77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2" fill="hold">
                            <p:stCondLst>
                              <p:cond delay="46500"/>
                            </p:stCondLst>
                            <p:childTnLst>
                              <p:par>
                                <p:cTn id="593" presetID="35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8" fill="hold">
                            <p:stCondLst>
                              <p:cond delay="47000"/>
                            </p:stCondLst>
                            <p:childTnLst>
                              <p:par>
                                <p:cTn id="599" presetID="35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4" fill="hold">
                            <p:stCondLst>
                              <p:cond delay="47500"/>
                            </p:stCondLst>
                            <p:childTnLst>
                              <p:par>
                                <p:cTn id="605" presetID="0" presetClass="entr" presetSubtype="0" ac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0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60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702222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609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61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515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1" fill="hold">
                            <p:stCondLst>
                              <p:cond delay="48000"/>
                            </p:stCondLst>
                            <p:childTnLst>
                              <p:par>
                                <p:cTn id="612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0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212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7" fill="hold">
                            <p:stCondLst>
                              <p:cond delay="48500"/>
                            </p:stCondLst>
                            <p:childTnLst>
                              <p:par>
                                <p:cTn id="618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00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3" fill="hold">
                            <p:stCondLst>
                              <p:cond delay="49000"/>
                            </p:stCondLst>
                            <p:childTnLst>
                              <p:par>
                                <p:cTn id="624" presetID="35" presetClass="path" presetSubtype="0" accel="50000" decel="5000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77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9" fill="hold">
                            <p:stCondLst>
                              <p:cond delay="49500"/>
                            </p:stCondLst>
                            <p:childTnLst>
                              <p:par>
                                <p:cTn id="630" presetID="35" presetClass="path" presetSubtype="0" accel="50000" decel="5000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5" fill="hold">
                            <p:stCondLst>
                              <p:cond delay="50000"/>
                            </p:stCondLst>
                            <p:childTnLst>
                              <p:par>
                                <p:cTn id="636" presetID="35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1" fill="hold">
                            <p:stCondLst>
                              <p:cond delay="50500"/>
                            </p:stCondLst>
                            <p:childTnLst>
                              <p:par>
                                <p:cTn id="642" presetID="35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8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7" fill="hold">
                            <p:stCondLst>
                              <p:cond delay="51000"/>
                            </p:stCondLst>
                            <p:childTnLst>
                              <p:par>
                                <p:cTn id="648" presetID="0" presetClass="entr" presetSubtype="0" ac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5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65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817778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65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65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515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4" fill="hold">
                            <p:stCondLst>
                              <p:cond delay="51500"/>
                            </p:stCondLst>
                            <p:childTnLst>
                              <p:par>
                                <p:cTn id="65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0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212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0" fill="hold">
                            <p:stCondLst>
                              <p:cond delay="52000"/>
                            </p:stCondLst>
                            <p:childTnLst>
                              <p:par>
                                <p:cTn id="66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00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6" fill="hold">
                            <p:stCondLst>
                              <p:cond delay="52500"/>
                            </p:stCondLst>
                            <p:childTnLst>
                              <p:par>
                                <p:cTn id="667" presetID="35" presetClass="path" presetSubtype="0" accel="50000" decel="50000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77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2" fill="hold">
                            <p:stCondLst>
                              <p:cond delay="53000"/>
                            </p:stCondLst>
                            <p:childTnLst>
                              <p:par>
                                <p:cTn id="673" presetID="35" presetClass="path" presetSubtype="0" accel="50000" decel="5000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8" fill="hold">
                            <p:stCondLst>
                              <p:cond delay="53500"/>
                            </p:stCondLst>
                            <p:childTnLst>
                              <p:par>
                                <p:cTn id="679" presetID="35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4" fill="hold">
                            <p:stCondLst>
                              <p:cond delay="54000"/>
                            </p:stCondLst>
                            <p:childTnLst>
                              <p:par>
                                <p:cTn id="685" presetID="35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8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0" fill="hold">
                            <p:stCondLst>
                              <p:cond delay="54500"/>
                            </p:stCondLst>
                            <p:childTnLst>
                              <p:par>
                                <p:cTn id="691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70222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6" fill="hold">
                            <p:stCondLst>
                              <p:cond delay="55000"/>
                            </p:stCondLst>
                            <p:childTnLst>
                              <p:par>
                                <p:cTn id="697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817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9" grpId="0"/>
      <p:bldP spid="7" grpId="2"/>
      <p:bldP spid="10" grpId="0"/>
      <p:bldP spid="7" grpId="3"/>
      <p:bldP spid="9" grpId="1"/>
      <p:bldP spid="11" grpId="0"/>
      <p:bldP spid="7" grpId="4"/>
      <p:bldP spid="9" grpId="2"/>
      <p:bldP spid="10" grpId="1"/>
      <p:bldP spid="12" grpId="0"/>
      <p:bldP spid="7" grpId="5"/>
      <p:bldP spid="9" grpId="3"/>
      <p:bldP spid="10" grpId="2"/>
      <p:bldP spid="11" grpId="1"/>
      <p:bldP spid="12" grpId="1"/>
      <p:bldP spid="15" grpId="0"/>
      <p:bldP spid="16" grpId="0" animBg="1"/>
      <p:bldP spid="15" grpId="1"/>
      <p:bldP spid="17" grpId="0"/>
      <p:bldP spid="15" grpId="2"/>
      <p:bldP spid="16" grpId="1" animBg="1"/>
      <p:bldP spid="18" grpId="0"/>
      <p:bldP spid="15" grpId="3"/>
      <p:bldP spid="16" grpId="2" animBg="1"/>
      <p:bldP spid="17" grpId="1"/>
      <p:bldP spid="19" grpId="0"/>
      <p:bldP spid="15" grpId="4"/>
      <p:bldP spid="16" grpId="3" animBg="1"/>
      <p:bldP spid="17" grpId="2"/>
      <p:bldP spid="18" grpId="1"/>
      <p:bldP spid="20" grpId="0"/>
      <p:bldP spid="15" grpId="5"/>
      <p:bldP spid="16" grpId="4" animBg="1"/>
      <p:bldP spid="17" grpId="3"/>
      <p:bldP spid="18" grpId="2"/>
      <p:bldP spid="19" grpId="1"/>
      <p:bldP spid="20" grpId="1"/>
      <p:bldP spid="23" grpId="0"/>
      <p:bldP spid="23" grpId="1"/>
      <p:bldP spid="25" grpId="0"/>
      <p:bldP spid="23" grpId="2"/>
      <p:bldP spid="26" grpId="0"/>
      <p:bldP spid="23" grpId="3"/>
      <p:bldP spid="25" grpId="1"/>
      <p:bldP spid="27" grpId="0"/>
      <p:bldP spid="23" grpId="4"/>
      <p:bldP spid="25" grpId="2"/>
      <p:bldP spid="26" grpId="1"/>
      <p:bldP spid="28" grpId="0"/>
      <p:bldP spid="23" grpId="5"/>
      <p:bldP spid="25" grpId="3"/>
      <p:bldP spid="26" grpId="2"/>
      <p:bldP spid="27" grpId="1"/>
      <p:bldP spid="28" grpId="1"/>
      <p:bldP spid="15" grpId="6"/>
      <p:bldP spid="16" grpId="5" animBg="1"/>
      <p:bldP spid="15" grpId="7"/>
      <p:bldP spid="17" grpId="4"/>
      <p:bldP spid="15" grpId="8"/>
      <p:bldP spid="16" grpId="6" animBg="1"/>
      <p:bldP spid="18" grpId="3"/>
      <p:bldP spid="15" grpId="9"/>
      <p:bldP spid="16" grpId="7" animBg="1"/>
      <p:bldP spid="17" grpId="5"/>
      <p:bldP spid="19" grpId="2"/>
      <p:bldP spid="15" grpId="10"/>
      <p:bldP spid="16" grpId="8" animBg="1"/>
      <p:bldP spid="17" grpId="6"/>
      <p:bldP spid="18" grpId="4"/>
      <p:bldP spid="20" grpId="2"/>
      <p:bldP spid="15" grpId="11"/>
      <p:bldP spid="16" grpId="9" animBg="1"/>
      <p:bldP spid="17" grpId="7"/>
      <p:bldP spid="18" grpId="5"/>
      <p:bldP spid="19" grpId="3"/>
      <p:bldP spid="20" grpId="3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6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2D8659"/>
          </a:solidFill>
        </p:spPr>
      </p:sp>
      <p:sp>
        <p:nvSpPr>
          <p:cNvPr id="4" name="Text 2"/>
          <p:cNvSpPr/>
          <p:nvPr/>
        </p:nvSpPr>
        <p:spPr>
          <a:xfrm>
            <a:off x="548640" y="1280160"/>
            <a:ext cx="548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865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1353312"/>
            <a:ext cx="3657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901952"/>
            <a:ext cx="548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1809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3657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技术方案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2523744"/>
            <a:ext cx="548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1809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596896"/>
            <a:ext cx="3657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工作流实现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3145536"/>
            <a:ext cx="548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1809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3218688"/>
            <a:ext cx="3657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部署与运行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3767328"/>
            <a:ext cx="548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1809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3840480"/>
            <a:ext cx="3657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效果展示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8640" y="4389120"/>
            <a:ext cx="548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1809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06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4462272"/>
            <a:ext cx="3657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6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914400" cy="32004"/>
          </a:xfrm>
          <a:prstGeom prst="rect">
            <a:avLst/>
          </a:prstGeom>
          <a:solidFill>
            <a:srgbClr val="2D8659"/>
          </a:solidFill>
        </p:spPr>
      </p:sp>
      <p:sp>
        <p:nvSpPr>
          <p:cNvPr id="4" name="Text 2"/>
          <p:cNvSpPr/>
          <p:nvPr/>
        </p:nvSpPr>
        <p:spPr>
          <a:xfrm>
            <a:off x="548640" y="109728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36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为什么做这个事？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45720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 每天要打开很多网站才能看完新闻，很麻烦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45720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 团队群里需要有人手动转发重要资讯，容易遗漏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551176"/>
            <a:ext cx="45720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 不同来源的格式不统一，阅读体验差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4572000" cy="1691640"/>
          </a:xfrm>
          <a:prstGeom prst="roundRect">
            <a:avLst>
              <a:gd name="adj" fmla="val 4324"/>
            </a:avLst>
          </a:prstGeom>
          <a:solidFill>
            <a:srgbClr val="E8F5E9"/>
          </a:solidFill>
        </p:spPr>
      </p:sp>
      <p:sp>
        <p:nvSpPr>
          <p:cNvPr id="9" name="Text 7"/>
          <p:cNvSpPr/>
          <p:nvPr/>
        </p:nvSpPr>
        <p:spPr>
          <a:xfrm>
            <a:off x="777240" y="3273552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86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解决思路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657600"/>
            <a:ext cx="42062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 Dify 搭建自动化工作流，定时抓取新闻网页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用代码节点清洗和格式化内容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通过企业微信 Webhook 推送到群聊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用 Docker 打包部署，保证稳定运行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394960" y="1097280"/>
            <a:ext cx="3383280" cy="3749040"/>
          </a:xfrm>
          <a:prstGeom prst="roundRect">
            <a:avLst>
              <a:gd name="adj" fmla="val 2703"/>
            </a:avLst>
          </a:prstGeom>
          <a:solidFill>
            <a:srgbClr val="1A365D"/>
          </a:solidFill>
        </p:spPr>
      </p:sp>
      <p:sp>
        <p:nvSpPr>
          <p:cNvPr id="12" name="Text 10"/>
          <p:cNvSpPr/>
          <p:nvPr/>
        </p:nvSpPr>
        <p:spPr>
          <a:xfrm>
            <a:off x="5623560" y="1417320"/>
            <a:ext cx="2926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"让新闻自己来找你"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675120" y="2011680"/>
            <a:ext cx="822960" cy="32004"/>
          </a:xfrm>
          <a:prstGeom prst="rect">
            <a:avLst/>
          </a:prstGeom>
          <a:solidFill>
            <a:srgbClr val="2D8659"/>
          </a:solidFill>
        </p:spPr>
      </p:sp>
      <p:sp>
        <p:nvSpPr>
          <p:cNvPr id="14" name="Text 12"/>
          <p:cNvSpPr/>
          <p:nvPr/>
        </p:nvSpPr>
        <p:spPr>
          <a:xfrm>
            <a:off x="5623560" y="2286000"/>
            <a:ext cx="292608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不需要人工干预</a:t>
            </a:r>
            <a:endParaRPr lang="en-US" sz="1300" dirty="0"/>
          </a:p>
          <a:p>
            <a:pPr marL="0" indent="0" algn="ctr">
              <a:lnSpc>
                <a:spcPct val="1800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每天定时自动推送</a:t>
            </a:r>
            <a:endParaRPr lang="en-US" sz="1300" dirty="0"/>
          </a:p>
          <a:p>
            <a:pPr marL="0" indent="0" algn="ctr">
              <a:lnSpc>
                <a:spcPct val="1800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格式统一易读</a:t>
            </a:r>
            <a:endParaRPr lang="en-US" sz="1300" dirty="0"/>
          </a:p>
          <a:p>
            <a:pPr marL="0" indent="0" algn="ctr">
              <a:lnSpc>
                <a:spcPct val="1800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错过也不怕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</a:rPr>
              <a:t>04</a:t>
            </a:r>
            <a:endParaRPr lang="en-US" sz="900" dirty="0"/>
          </a:p>
        </p:txBody>
      </p:sp>
      <p:pic>
        <p:nvPicPr>
          <p:cNvPr id="16" name="图片 15" descr="人才招募令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976870" y="0"/>
            <a:ext cx="1167130" cy="6711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3 -0.073 L 0.177 -0.073 L 0.25 0 L 0.25 0.104 L 0.177 0.177 L 0.073 0.177 L 0 0.104 L 0 0 Z" pathEditMode="relative" ptsTypes="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0" presetClass="entr" presetSubtype="0" ac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446222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12" dur="2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33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0" presetClass="entr" presetSubtype="0" ac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1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492444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19" dur="2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33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500"/>
                            </p:stCondLst>
                            <p:childTnLst>
                              <p:par>
                                <p:cTn id="28" presetID="0" presetClass="entr" presetSubtype="0" ac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3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538667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32" dur="2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3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33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35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53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4622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38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 build="p"/>
      <p:bldP spid="5" grpId="1"/>
      <p:bldP spid="6" grpId="0" build="p"/>
      <p:bldP spid="6" grpId="1"/>
      <p:bldP spid="7" grpId="0" build="p"/>
      <p:bldP spid="7" grpId="1"/>
      <p:bldP spid="5" grpId="2"/>
      <p:bldP spid="6" grpId="2"/>
      <p:bldP spid="5" grpId="3"/>
      <p:bldP spid="7" grpId="2"/>
      <p:bldP spid="5" grpId="4"/>
      <p:bldP spid="6" grpId="3"/>
      <p:bldP spid="7" grpId="3"/>
      <p:bldP spid="9" grpId="0"/>
      <p:bldP spid="10" grpId="0"/>
      <p:bldP spid="9" grpId="1"/>
      <p:bldP spid="1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6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技术方案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914400" cy="32004"/>
          </a:xfrm>
          <a:prstGeom prst="rect">
            <a:avLst/>
          </a:prstGeom>
          <a:solidFill>
            <a:srgbClr val="2D8659"/>
          </a:solidFill>
        </p:spPr>
      </p:sp>
      <p:sp>
        <p:nvSpPr>
          <p:cNvPr id="4" name="Text 2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36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整体架构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371600" y="1554480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2D86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1627632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企业微信（接收端）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554480" y="1901952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群消息 / Markdown格式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2331720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1A36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2404872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Dify 工作流平台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554480" y="2679192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触发 → 抓取 → 处理 → 推送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71600" y="3108960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3645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3182112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Docker 容器环境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554480" y="3456432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dify-web / dify-api / nginx / redis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0" y="3886200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F0EEE9"/>
          </a:solidFill>
          <a:ln w="15240">
            <a:solidFill>
              <a:srgbClr val="7180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3959352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数据源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554480" y="4233672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目标新闻网站（F</a:t>
            </a:r>
            <a:r>
              <a:rPr lang="en-US" sz="100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irecrawl抓取）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2194560"/>
            <a:ext cx="365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2971800"/>
            <a:ext cx="365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0" y="3749040"/>
            <a:ext cx="365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77840" y="10972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36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技术选型理由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577840" y="1572768"/>
            <a:ext cx="1188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865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Dify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77840" y="1865376"/>
            <a:ext cx="32004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开源低代码AI平台，可视化编排工作流，无需从零写代码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2414016"/>
            <a:ext cx="1188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865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Docker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2706624"/>
            <a:ext cx="32004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容器化隔离，一键启停，环境一致性有保障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3255264"/>
            <a:ext cx="1188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865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企业微信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3547872"/>
            <a:ext cx="32004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团队日常使用的通讯工具，推送触达率高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4096512"/>
            <a:ext cx="1188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865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77840" y="4389120"/>
            <a:ext cx="32004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代码节点用Python处理数据，生态丰富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</a:rPr>
              <a:t>05</a:t>
            </a:r>
            <a:endParaRPr lang="en-US" sz="900" dirty="0"/>
          </a:p>
        </p:txBody>
      </p:sp>
      <p:pic>
        <p:nvPicPr>
          <p:cNvPr id="30" name="图片 29" descr="人才招募令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976870" y="0"/>
            <a:ext cx="1167130" cy="6711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549185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9" dur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315417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0" presetClass="entr" presetSubtype="0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592889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16" dur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7555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0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2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571556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29" dur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7555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928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0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4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621333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48" dur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7555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928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00"/>
                            </p:stCondLst>
                            <p:childTnLst>
                              <p:par>
                                <p:cTn id="63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7155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0" presetClass="entr" presetSubtype="0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668444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73" dur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500"/>
                            </p:stCondLst>
                            <p:childTnLst>
                              <p:par>
                                <p:cTn id="76" presetID="35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000"/>
                            </p:stCondLst>
                            <p:childTnLst>
                              <p:par>
                                <p:cTn id="82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17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6500"/>
                            </p:stCondLst>
                            <p:childTnLst>
                              <p:par>
                                <p:cTn id="88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9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7000"/>
                            </p:stCondLst>
                            <p:childTnLst>
                              <p:par>
                                <p:cTn id="94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4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500"/>
                            </p:stCondLst>
                            <p:childTnLst>
                              <p:par>
                                <p:cTn id="100" presetID="0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0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10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647111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104" dur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0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8000"/>
                            </p:stCondLst>
                            <p:childTnLst>
                              <p:par>
                                <p:cTn id="107" presetID="35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8500"/>
                            </p:stCondLst>
                            <p:childTnLst>
                              <p:par>
                                <p:cTn id="11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17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9000"/>
                            </p:stCondLst>
                            <p:childTnLst>
                              <p:par>
                                <p:cTn id="119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9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9500"/>
                            </p:stCondLst>
                            <p:childTnLst>
                              <p:par>
                                <p:cTn id="125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4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3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68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0500"/>
                            </p:stCondLst>
                            <p:childTnLst>
                              <p:par>
                                <p:cTn id="137" presetID="0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14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696889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141" dur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1000"/>
                            </p:stCondLst>
                            <p:childTnLst>
                              <p:par>
                                <p:cTn id="144" presetID="35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1500"/>
                            </p:stCondLst>
                            <p:childTnLst>
                              <p:par>
                                <p:cTn id="150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17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2000"/>
                            </p:stCondLst>
                            <p:childTnLst>
                              <p:par>
                                <p:cTn id="156" presetID="35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9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2500"/>
                            </p:stCondLst>
                            <p:childTnLst>
                              <p:par>
                                <p:cTn id="162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4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13000"/>
                            </p:stCondLst>
                            <p:childTnLst>
                              <p:par>
                                <p:cTn id="168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68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3500"/>
                            </p:stCondLst>
                            <p:childTnLst>
                              <p:par>
                                <p:cTn id="174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4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4000"/>
                            </p:stCondLst>
                            <p:childTnLst>
                              <p:par>
                                <p:cTn id="180" presetID="0" presetClass="entr" presetSubtype="0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18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744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184" dur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8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4500"/>
                            </p:stCondLst>
                            <p:childTnLst>
                              <p:par>
                                <p:cTn id="187" presetID="35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2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15000"/>
                            </p:stCondLst>
                            <p:childTnLst>
                              <p:par>
                                <p:cTn id="19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41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15500"/>
                            </p:stCondLst>
                            <p:childTnLst>
                              <p:par>
                                <p:cTn id="199" presetID="35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20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16000"/>
                            </p:stCondLst>
                            <p:childTnLst>
                              <p:par>
                                <p:cTn id="205" presetID="35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7022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16500"/>
                            </p:stCondLst>
                            <p:childTnLst>
                              <p:par>
                                <p:cTn id="21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928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17000"/>
                            </p:stCondLst>
                            <p:childTnLst>
                              <p:par>
                                <p:cTn id="217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7155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17500"/>
                            </p:stCondLst>
                            <p:childTnLst>
                              <p:par>
                                <p:cTn id="223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21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18000"/>
                            </p:stCondLst>
                            <p:childTnLst>
                              <p:par>
                                <p:cTn id="229" presetID="0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2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722667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233" dur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18500"/>
                            </p:stCondLst>
                            <p:childTnLst>
                              <p:par>
                                <p:cTn id="236" presetID="35" presetClass="path" presetSubtype="0" accel="50000" decel="5000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2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19000"/>
                            </p:stCondLst>
                            <p:childTnLst>
                              <p:par>
                                <p:cTn id="242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41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19500"/>
                            </p:stCondLst>
                            <p:childTnLst>
                              <p:par>
                                <p:cTn id="248" presetID="35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20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20000"/>
                            </p:stCondLst>
                            <p:childTnLst>
                              <p:par>
                                <p:cTn id="254" presetID="35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7022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20500"/>
                            </p:stCondLst>
                            <p:childTnLst>
                              <p:par>
                                <p:cTn id="260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928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21000"/>
                            </p:stCondLst>
                            <p:childTnLst>
                              <p:par>
                                <p:cTn id="266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7155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21500"/>
                            </p:stCondLst>
                            <p:childTnLst>
                              <p:par>
                                <p:cTn id="272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21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22000"/>
                            </p:stCondLst>
                            <p:childTnLst>
                              <p:par>
                                <p:cTn id="278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7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22500"/>
                            </p:stCondLst>
                            <p:childTnLst>
                              <p:par>
                                <p:cTn id="284" presetID="0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8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28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772444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288" dur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8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23000"/>
                            </p:stCondLst>
                            <p:childTnLst>
                              <p:par>
                                <p:cTn id="291" presetID="35" presetClass="path" presetSubtype="0" accel="50000" decel="5000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2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>
                            <p:stCondLst>
                              <p:cond delay="23500"/>
                            </p:stCondLst>
                            <p:childTnLst>
                              <p:par>
                                <p:cTn id="29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41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24000"/>
                            </p:stCondLst>
                            <p:childTnLst>
                              <p:par>
                                <p:cTn id="303" presetID="35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20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" fill="hold">
                            <p:stCondLst>
                              <p:cond delay="24500"/>
                            </p:stCondLst>
                            <p:childTnLst>
                              <p:par>
                                <p:cTn id="309" presetID="35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7022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>
                            <p:stCondLst>
                              <p:cond delay="25000"/>
                            </p:stCondLst>
                            <p:childTnLst>
                              <p:par>
                                <p:cTn id="31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928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25500"/>
                            </p:stCondLst>
                            <p:childTnLst>
                              <p:par>
                                <p:cTn id="321" presetID="35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7155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6" fill="hold">
                            <p:stCondLst>
                              <p:cond delay="26000"/>
                            </p:stCondLst>
                            <p:childTnLst>
                              <p:par>
                                <p:cTn id="327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21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" fill="hold">
                            <p:stCondLst>
                              <p:cond delay="26500"/>
                            </p:stCondLst>
                            <p:childTnLst>
                              <p:par>
                                <p:cTn id="33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7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8" fill="hold">
                            <p:stCondLst>
                              <p:cond delay="27000"/>
                            </p:stCondLst>
                            <p:childTnLst>
                              <p:par>
                                <p:cTn id="339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722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4" fill="hold">
                            <p:stCondLst>
                              <p:cond delay="27500"/>
                            </p:stCondLst>
                            <p:childTnLst>
                              <p:par>
                                <p:cTn id="345" presetID="0" presetClass="entr" presetSubtype="0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4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3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819556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349" dur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35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1" fill="hold">
                            <p:stCondLst>
                              <p:cond delay="28000"/>
                            </p:stCondLst>
                            <p:childTnLst>
                              <p:par>
                                <p:cTn id="352" presetID="35" presetClass="path" presetSubtype="0" accel="50000" decel="5000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2488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7" fill="hold">
                            <p:stCondLst>
                              <p:cond delay="28500"/>
                            </p:stCondLst>
                            <p:childTnLst>
                              <p:par>
                                <p:cTn id="358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6622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3" fill="hold">
                            <p:stCondLst>
                              <p:cond delay="29000"/>
                            </p:stCondLst>
                            <p:childTnLst>
                              <p:par>
                                <p:cTn id="364" presetID="35" presetClass="path" presetSubtype="0" accel="50000" decel="5000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48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9" fill="hold">
                            <p:stCondLst>
                              <p:cond delay="29500"/>
                            </p:stCondLst>
                            <p:childTnLst>
                              <p:par>
                                <p:cTn id="370" presetID="35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94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5" fill="hold">
                            <p:stCondLst>
                              <p:cond delay="30000"/>
                            </p:stCondLst>
                            <p:childTnLst>
                              <p:par>
                                <p:cTn id="376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17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1" fill="hold">
                            <p:stCondLst>
                              <p:cond delay="30500"/>
                            </p:stCondLst>
                            <p:childTnLst>
                              <p:par>
                                <p:cTn id="382" presetID="35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9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7" fill="hold">
                            <p:stCondLst>
                              <p:cond delay="31000"/>
                            </p:stCondLst>
                            <p:childTnLst>
                              <p:par>
                                <p:cTn id="388" presetID="35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4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3" fill="hold">
                            <p:stCondLst>
                              <p:cond delay="31500"/>
                            </p:stCondLst>
                            <p:childTnLst>
                              <p:par>
                                <p:cTn id="394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68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9" fill="hold">
                            <p:stCondLst>
                              <p:cond delay="32000"/>
                            </p:stCondLst>
                            <p:childTnLst>
                              <p:par>
                                <p:cTn id="400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4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5" fill="hold">
                            <p:stCondLst>
                              <p:cond delay="32500"/>
                            </p:stCondLst>
                            <p:childTnLst>
                              <p:par>
                                <p:cTn id="406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968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33000"/>
                            </p:stCondLst>
                            <p:childTnLst>
                              <p:par>
                                <p:cTn id="412" presetID="0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4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798222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416" dur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41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8" fill="hold">
                            <p:stCondLst>
                              <p:cond delay="33500"/>
                            </p:stCondLst>
                            <p:childTnLst>
                              <p:par>
                                <p:cTn id="419" presetID="35" presetClass="path" presetSubtype="0" accel="50000" decel="50000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2488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4" fill="hold">
                            <p:stCondLst>
                              <p:cond delay="34000"/>
                            </p:stCondLst>
                            <p:childTnLst>
                              <p:par>
                                <p:cTn id="42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6622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>
                            <p:stCondLst>
                              <p:cond delay="34500"/>
                            </p:stCondLst>
                            <p:childTnLst>
                              <p:par>
                                <p:cTn id="431" presetID="35" presetClass="path" presetSubtype="0" accel="50000" decel="5000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48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6" fill="hold">
                            <p:stCondLst>
                              <p:cond delay="35000"/>
                            </p:stCondLst>
                            <p:childTnLst>
                              <p:par>
                                <p:cTn id="437" presetID="35" presetClass="path" presetSubtype="0" accel="50000" decel="5000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94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2" fill="hold">
                            <p:stCondLst>
                              <p:cond delay="35500"/>
                            </p:stCondLst>
                            <p:childTnLst>
                              <p:par>
                                <p:cTn id="44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17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8" fill="hold">
                            <p:stCondLst>
                              <p:cond delay="36000"/>
                            </p:stCondLst>
                            <p:childTnLst>
                              <p:par>
                                <p:cTn id="449" presetID="35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9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4" fill="hold">
                            <p:stCondLst>
                              <p:cond delay="36500"/>
                            </p:stCondLst>
                            <p:childTnLst>
                              <p:par>
                                <p:cTn id="455" presetID="35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4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0" fill="hold">
                            <p:stCondLst>
                              <p:cond delay="37000"/>
                            </p:stCondLst>
                            <p:childTnLst>
                              <p:par>
                                <p:cTn id="46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68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6" fill="hold">
                            <p:stCondLst>
                              <p:cond delay="37500"/>
                            </p:stCondLst>
                            <p:childTnLst>
                              <p:par>
                                <p:cTn id="467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4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2" fill="hold">
                            <p:stCondLst>
                              <p:cond delay="38000"/>
                            </p:stCondLst>
                            <p:childTnLst>
                              <p:par>
                                <p:cTn id="473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968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8" fill="hold">
                            <p:stCondLst>
                              <p:cond delay="38500"/>
                            </p:stCondLst>
                            <p:childTnLst>
                              <p:par>
                                <p:cTn id="47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81955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" fill="hold">
                            <p:stCondLst>
                              <p:cond delay="39000"/>
                            </p:stCondLst>
                            <p:childTnLst>
                              <p:par>
                                <p:cTn id="485" presetID="0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8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48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848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489" dur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4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1" fill="hold">
                            <p:stCondLst>
                              <p:cond delay="39500"/>
                            </p:stCondLst>
                            <p:childTnLst>
                              <p:par>
                                <p:cTn id="492" presetID="35" presetClass="path" presetSubtype="0" accel="50000" decel="5000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2488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7" fill="hold">
                            <p:stCondLst>
                              <p:cond delay="40000"/>
                            </p:stCondLst>
                            <p:childTnLst>
                              <p:par>
                                <p:cTn id="498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6622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3" fill="hold">
                            <p:stCondLst>
                              <p:cond delay="40500"/>
                            </p:stCondLst>
                            <p:childTnLst>
                              <p:par>
                                <p:cTn id="504" presetID="35" presetClass="path" presetSubtype="0" accel="50000" decel="5000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48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9" fill="hold">
                            <p:stCondLst>
                              <p:cond delay="41000"/>
                            </p:stCondLst>
                            <p:childTnLst>
                              <p:par>
                                <p:cTn id="510" presetID="35" presetClass="path" presetSubtype="0" accel="50000" decel="5000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94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5" fill="hold">
                            <p:stCondLst>
                              <p:cond delay="41500"/>
                            </p:stCondLst>
                            <p:childTnLst>
                              <p:par>
                                <p:cTn id="516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17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1" fill="hold">
                            <p:stCondLst>
                              <p:cond delay="42000"/>
                            </p:stCondLst>
                            <p:childTnLst>
                              <p:par>
                                <p:cTn id="522" presetID="35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9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7" fill="hold">
                            <p:stCondLst>
                              <p:cond delay="42500"/>
                            </p:stCondLst>
                            <p:childTnLst>
                              <p:par>
                                <p:cTn id="528" presetID="35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4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3" fill="hold">
                            <p:stCondLst>
                              <p:cond delay="43000"/>
                            </p:stCondLst>
                            <p:childTnLst>
                              <p:par>
                                <p:cTn id="534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68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9" fill="hold">
                            <p:stCondLst>
                              <p:cond delay="43500"/>
                            </p:stCondLst>
                            <p:childTnLst>
                              <p:par>
                                <p:cTn id="540" presetID="35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4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5" fill="hold">
                            <p:stCondLst>
                              <p:cond delay="44000"/>
                            </p:stCondLst>
                            <p:childTnLst>
                              <p:par>
                                <p:cTn id="546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968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1" fill="hold">
                            <p:stCondLst>
                              <p:cond delay="44500"/>
                            </p:stCondLst>
                            <p:childTnLst>
                              <p:par>
                                <p:cTn id="552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81955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7" fill="hold">
                            <p:stCondLst>
                              <p:cond delay="45000"/>
                            </p:stCondLst>
                            <p:childTnLst>
                              <p:par>
                                <p:cTn id="558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79822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3" fill="hold">
                            <p:stCondLst>
                              <p:cond delay="45500"/>
                            </p:stCondLst>
                            <p:childTnLst>
                              <p:par>
                                <p:cTn id="564" presetID="0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56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455111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568" dur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56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37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0" fill="hold">
                            <p:stCondLst>
                              <p:cond delay="46000"/>
                            </p:stCondLst>
                            <p:childTnLst>
                              <p:par>
                                <p:cTn id="571" presetID="35" presetClass="path" presetSubtype="0" accel="50000" decel="50000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2488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6" fill="hold">
                            <p:stCondLst>
                              <p:cond delay="46500"/>
                            </p:stCondLst>
                            <p:childTnLst>
                              <p:par>
                                <p:cTn id="57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6622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2" fill="hold">
                            <p:stCondLst>
                              <p:cond delay="47000"/>
                            </p:stCondLst>
                            <p:childTnLst>
                              <p:par>
                                <p:cTn id="583" presetID="35" presetClass="path" presetSubtype="0" accel="50000" decel="50000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48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8" fill="hold">
                            <p:stCondLst>
                              <p:cond delay="47500"/>
                            </p:stCondLst>
                            <p:childTnLst>
                              <p:par>
                                <p:cTn id="589" presetID="35" presetClass="path" presetSubtype="0" accel="50000" decel="5000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94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4" fill="hold">
                            <p:stCondLst>
                              <p:cond delay="48000"/>
                            </p:stCondLst>
                            <p:childTnLst>
                              <p:par>
                                <p:cTn id="59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17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0" fill="hold">
                            <p:stCondLst>
                              <p:cond delay="48500"/>
                            </p:stCondLst>
                            <p:childTnLst>
                              <p:par>
                                <p:cTn id="601" presetID="35" presetClass="path" presetSubtype="0" accel="50000" decel="5000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9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6" fill="hold">
                            <p:stCondLst>
                              <p:cond delay="49000"/>
                            </p:stCondLst>
                            <p:childTnLst>
                              <p:par>
                                <p:cTn id="607" presetID="35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4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2" fill="hold">
                            <p:stCondLst>
                              <p:cond delay="49500"/>
                            </p:stCondLst>
                            <p:childTnLst>
                              <p:par>
                                <p:cTn id="61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68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8" fill="hold">
                            <p:stCondLst>
                              <p:cond delay="50000"/>
                            </p:stCondLst>
                            <p:childTnLst>
                              <p:par>
                                <p:cTn id="619" presetID="35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4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4" fill="hold">
                            <p:stCondLst>
                              <p:cond delay="50500"/>
                            </p:stCondLst>
                            <p:childTnLst>
                              <p:par>
                                <p:cTn id="625" presetID="35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968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0" fill="hold">
                            <p:stCondLst>
                              <p:cond delay="51000"/>
                            </p:stCondLst>
                            <p:childTnLst>
                              <p:par>
                                <p:cTn id="63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81955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6" fill="hold">
                            <p:stCondLst>
                              <p:cond delay="51500"/>
                            </p:stCondLst>
                            <p:childTnLst>
                              <p:par>
                                <p:cTn id="637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79822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2" fill="hold">
                            <p:stCondLst>
                              <p:cond delay="52000"/>
                            </p:stCondLst>
                            <p:childTnLst>
                              <p:par>
                                <p:cTn id="643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84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8" fill="hold">
                            <p:stCondLst>
                              <p:cond delay="52500"/>
                            </p:stCondLst>
                            <p:childTnLst>
                              <p:par>
                                <p:cTn id="649" presetID="0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5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6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606222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653" dur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6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37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5" fill="hold">
                            <p:stCondLst>
                              <p:cond delay="53000"/>
                            </p:stCondLst>
                            <p:childTnLst>
                              <p:par>
                                <p:cTn id="656" presetID="35" presetClass="path" presetSubtype="0" accel="50000" decel="5000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2488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1" fill="hold">
                            <p:stCondLst>
                              <p:cond delay="53500"/>
                            </p:stCondLst>
                            <p:childTnLst>
                              <p:par>
                                <p:cTn id="662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6622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7" fill="hold">
                            <p:stCondLst>
                              <p:cond delay="54000"/>
                            </p:stCondLst>
                            <p:childTnLst>
                              <p:par>
                                <p:cTn id="668" presetID="35" presetClass="path" presetSubtype="0" accel="50000" decel="5000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48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3" fill="hold">
                            <p:stCondLst>
                              <p:cond delay="54500"/>
                            </p:stCondLst>
                            <p:childTnLst>
                              <p:par>
                                <p:cTn id="674" presetID="35" presetClass="path" presetSubtype="0" accel="50000" decel="50000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94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9" fill="hold">
                            <p:stCondLst>
                              <p:cond delay="55000"/>
                            </p:stCondLst>
                            <p:childTnLst>
                              <p:par>
                                <p:cTn id="680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17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5" fill="hold">
                            <p:stCondLst>
                              <p:cond delay="55500"/>
                            </p:stCondLst>
                            <p:childTnLst>
                              <p:par>
                                <p:cTn id="686" presetID="35" presetClass="path" presetSubtype="0" accel="50000" decel="5000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9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1" fill="hold">
                            <p:stCondLst>
                              <p:cond delay="56000"/>
                            </p:stCondLst>
                            <p:childTnLst>
                              <p:par>
                                <p:cTn id="692" presetID="35" presetClass="path" presetSubtype="0" accel="50000" decel="5000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4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7" fill="hold">
                            <p:stCondLst>
                              <p:cond delay="56500"/>
                            </p:stCondLst>
                            <p:childTnLst>
                              <p:par>
                                <p:cTn id="698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68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3" fill="hold">
                            <p:stCondLst>
                              <p:cond delay="57000"/>
                            </p:stCondLst>
                            <p:childTnLst>
                              <p:par>
                                <p:cTn id="704" presetID="35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4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9" fill="hold">
                            <p:stCondLst>
                              <p:cond delay="57500"/>
                            </p:stCondLst>
                            <p:childTnLst>
                              <p:par>
                                <p:cTn id="710" presetID="35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968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5" fill="hold">
                            <p:stCondLst>
                              <p:cond delay="58000"/>
                            </p:stCondLst>
                            <p:childTnLst>
                              <p:par>
                                <p:cTn id="716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1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81955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1" fill="hold">
                            <p:stCondLst>
                              <p:cond delay="58500"/>
                            </p:stCondLst>
                            <p:childTnLst>
                              <p:par>
                                <p:cTn id="722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79822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7" fill="hold">
                            <p:stCondLst>
                              <p:cond delay="59000"/>
                            </p:stCondLst>
                            <p:childTnLst>
                              <p:par>
                                <p:cTn id="728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84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3" fill="hold">
                            <p:stCondLst>
                              <p:cond delay="59500"/>
                            </p:stCondLst>
                            <p:childTnLst>
                              <p:par>
                                <p:cTn id="734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55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9" fill="hold">
                            <p:stCondLst>
                              <p:cond delay="60000"/>
                            </p:stCondLst>
                            <p:childTnLst>
                              <p:par>
                                <p:cTn id="740" presetID="0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74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757333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744" dur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74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37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6" fill="hold">
                            <p:stCondLst>
                              <p:cond delay="60500"/>
                            </p:stCondLst>
                            <p:childTnLst>
                              <p:par>
                                <p:cTn id="747" presetID="35" presetClass="path" presetSubtype="0" accel="50000" decel="5000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2488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2" fill="hold">
                            <p:stCondLst>
                              <p:cond delay="61000"/>
                            </p:stCondLst>
                            <p:childTnLst>
                              <p:par>
                                <p:cTn id="75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6622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8" fill="hold">
                            <p:stCondLst>
                              <p:cond delay="61500"/>
                            </p:stCondLst>
                            <p:childTnLst>
                              <p:par>
                                <p:cTn id="759" presetID="35" presetClass="path" presetSubtype="0" accel="50000" decel="50000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48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4" fill="hold">
                            <p:stCondLst>
                              <p:cond delay="62000"/>
                            </p:stCondLst>
                            <p:childTnLst>
                              <p:par>
                                <p:cTn id="765" presetID="35" presetClass="path" presetSubtype="0" accel="50000" decel="5000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94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0" fill="hold">
                            <p:stCondLst>
                              <p:cond delay="62500"/>
                            </p:stCondLst>
                            <p:childTnLst>
                              <p:par>
                                <p:cTn id="77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17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6" fill="hold">
                            <p:stCondLst>
                              <p:cond delay="63000"/>
                            </p:stCondLst>
                            <p:childTnLst>
                              <p:par>
                                <p:cTn id="777" presetID="35" presetClass="path" presetSubtype="0" accel="50000" decel="5000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9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2" fill="hold">
                            <p:stCondLst>
                              <p:cond delay="63500"/>
                            </p:stCondLst>
                            <p:childTnLst>
                              <p:par>
                                <p:cTn id="783" presetID="35" presetClass="path" presetSubtype="0" accel="50000" decel="5000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4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8" fill="hold">
                            <p:stCondLst>
                              <p:cond delay="64000"/>
                            </p:stCondLst>
                            <p:childTnLst>
                              <p:par>
                                <p:cTn id="78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68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4" fill="hold">
                            <p:stCondLst>
                              <p:cond delay="64500"/>
                            </p:stCondLst>
                            <p:childTnLst>
                              <p:par>
                                <p:cTn id="795" presetID="35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9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4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0" fill="hold">
                            <p:stCondLst>
                              <p:cond delay="65000"/>
                            </p:stCondLst>
                            <p:childTnLst>
                              <p:par>
                                <p:cTn id="801" presetID="35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968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6" fill="hold">
                            <p:stCondLst>
                              <p:cond delay="65500"/>
                            </p:stCondLst>
                            <p:childTnLst>
                              <p:par>
                                <p:cTn id="80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81955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2" fill="hold">
                            <p:stCondLst>
                              <p:cond delay="66000"/>
                            </p:stCondLst>
                            <p:childTnLst>
                              <p:par>
                                <p:cTn id="813" presetID="35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79822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8" fill="hold">
                            <p:stCondLst>
                              <p:cond delay="66500"/>
                            </p:stCondLst>
                            <p:childTnLst>
                              <p:par>
                                <p:cTn id="819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84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4" fill="hold">
                            <p:stCondLst>
                              <p:cond delay="67000"/>
                            </p:stCondLst>
                            <p:childTnLst>
                              <p:par>
                                <p:cTn id="825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55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0" fill="hold">
                            <p:stCondLst>
                              <p:cond delay="67500"/>
                            </p:stCondLst>
                            <p:childTnLst>
                              <p:par>
                                <p:cTn id="831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622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6" fill="hold">
                            <p:stCondLst>
                              <p:cond delay="68000"/>
                            </p:stCondLst>
                            <p:childTnLst>
                              <p:par>
                                <p:cTn id="837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757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2" fill="hold">
                      <p:stCondLst>
                        <p:cond delay="indefinite"/>
                      </p:stCondLst>
                      <p:childTnLst>
                        <p:par>
                          <p:cTn id="843" fill="hold">
                            <p:stCondLst>
                              <p:cond delay="0"/>
                            </p:stCondLst>
                            <p:childTnLst>
                              <p:par>
                                <p:cTn id="844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4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9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5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4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5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9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6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4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6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9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7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4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7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9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8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6" grpId="0"/>
      <p:bldP spid="4" grpId="2"/>
      <p:bldP spid="7" grpId="0"/>
      <p:bldP spid="4" grpId="3"/>
      <p:bldP spid="6" grpId="1"/>
      <p:bldP spid="4" grpId="4"/>
      <p:bldP spid="6" grpId="2"/>
      <p:bldP spid="7" grpId="1"/>
      <p:bldP spid="9" grpId="0"/>
      <p:bldP spid="4" grpId="5"/>
      <p:bldP spid="6" grpId="3"/>
      <p:bldP spid="7" grpId="2"/>
      <p:bldP spid="10" grpId="0"/>
      <p:bldP spid="4" grpId="6"/>
      <p:bldP spid="6" grpId="4"/>
      <p:bldP spid="7" grpId="3"/>
      <p:bldP spid="9" grpId="1"/>
      <p:bldP spid="4" grpId="7"/>
      <p:bldP spid="6" grpId="5"/>
      <p:bldP spid="7" grpId="4"/>
      <p:bldP spid="9" grpId="2"/>
      <p:bldP spid="10" grpId="1"/>
      <p:bldP spid="12" grpId="0"/>
      <p:bldP spid="4" grpId="8"/>
      <p:bldP spid="6" grpId="6"/>
      <p:bldP spid="7" grpId="5"/>
      <p:bldP spid="9" grpId="3"/>
      <p:bldP spid="10" grpId="2"/>
      <p:bldP spid="13" grpId="0"/>
      <p:bldP spid="4" grpId="9"/>
      <p:bldP spid="6" grpId="7"/>
      <p:bldP spid="7" grpId="6"/>
      <p:bldP spid="9" grpId="4"/>
      <p:bldP spid="10" grpId="3"/>
      <p:bldP spid="12" grpId="1"/>
      <p:bldP spid="4" grpId="10"/>
      <p:bldP spid="6" grpId="8"/>
      <p:bldP spid="7" grpId="7"/>
      <p:bldP spid="9" grpId="5"/>
      <p:bldP spid="10" grpId="4"/>
      <p:bldP spid="12" grpId="2"/>
      <p:bldP spid="13" grpId="1"/>
      <p:bldP spid="15" grpId="0"/>
      <p:bldP spid="4" grpId="11"/>
      <p:bldP spid="6" grpId="9"/>
      <p:bldP spid="7" grpId="8"/>
      <p:bldP spid="9" grpId="6"/>
      <p:bldP spid="10" grpId="5"/>
      <p:bldP spid="12" grpId="3"/>
      <p:bldP spid="13" grpId="2"/>
      <p:bldP spid="16" grpId="0"/>
      <p:bldP spid="4" grpId="12"/>
      <p:bldP spid="6" grpId="10"/>
      <p:bldP spid="7" grpId="9"/>
      <p:bldP spid="9" grpId="7"/>
      <p:bldP spid="10" grpId="6"/>
      <p:bldP spid="12" grpId="4"/>
      <p:bldP spid="13" grpId="3"/>
      <p:bldP spid="15" grpId="1"/>
      <p:bldP spid="17" grpId="0"/>
      <p:bldP spid="4" grpId="13"/>
      <p:bldP spid="6" grpId="11"/>
      <p:bldP spid="7" grpId="10"/>
      <p:bldP spid="9" grpId="8"/>
      <p:bldP spid="10" grpId="7"/>
      <p:bldP spid="12" grpId="5"/>
      <p:bldP spid="13" grpId="4"/>
      <p:bldP spid="15" grpId="2"/>
      <p:bldP spid="16" grpId="1"/>
      <p:bldP spid="18" grpId="0"/>
      <p:bldP spid="4" grpId="14"/>
      <p:bldP spid="6" grpId="12"/>
      <p:bldP spid="7" grpId="11"/>
      <p:bldP spid="9" grpId="9"/>
      <p:bldP spid="10" grpId="8"/>
      <p:bldP spid="12" grpId="6"/>
      <p:bldP spid="13" grpId="5"/>
      <p:bldP spid="15" grpId="3"/>
      <p:bldP spid="16" grpId="2"/>
      <p:bldP spid="17" grpId="1"/>
      <p:bldP spid="19" grpId="0"/>
      <p:bldP spid="4" grpId="15"/>
      <p:bldP spid="6" grpId="13"/>
      <p:bldP spid="7" grpId="12"/>
      <p:bldP spid="9" grpId="10"/>
      <p:bldP spid="10" grpId="9"/>
      <p:bldP spid="12" grpId="7"/>
      <p:bldP spid="13" grpId="6"/>
      <p:bldP spid="15" grpId="4"/>
      <p:bldP spid="16" grpId="3"/>
      <p:bldP spid="17" grpId="2"/>
      <p:bldP spid="18" grpId="1"/>
      <p:bldP spid="19" grpId="1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1" grpId="1"/>
      <p:bldP spid="22" grpId="1"/>
      <p:bldP spid="23" grpId="1"/>
      <p:bldP spid="24" grpId="1"/>
      <p:bldP spid="25" grpId="1"/>
      <p:bldP spid="26" grpId="1"/>
      <p:bldP spid="27" grpId="1"/>
      <p:bldP spid="2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6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工作流实现 — Dify节点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914400" cy="32004"/>
          </a:xfrm>
          <a:prstGeom prst="rect">
            <a:avLst/>
          </a:prstGeom>
          <a:solidFill>
            <a:srgbClr val="2D8659"/>
          </a:solidFill>
        </p:spPr>
      </p:sp>
      <p:sp>
        <p:nvSpPr>
          <p:cNvPr id="4" name="Shape 2"/>
          <p:cNvSpPr/>
          <p:nvPr/>
        </p:nvSpPr>
        <p:spPr>
          <a:xfrm>
            <a:off x="320040" y="1143000"/>
            <a:ext cx="2029968" cy="2697480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9050">
            <a:solidFill>
              <a:srgbClr val="74421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5444" y="1325880"/>
            <a:ext cx="914400" cy="914400"/>
          </a:xfrm>
          <a:prstGeom prst="ellipse">
            <a:avLst/>
          </a:prstGeom>
          <a:solidFill>
            <a:srgbClr val="744210"/>
          </a:solidFill>
        </p:spPr>
      </p:sp>
      <p:sp>
        <p:nvSpPr>
          <p:cNvPr id="6" name="Text 4"/>
          <p:cNvSpPr/>
          <p:nvPr/>
        </p:nvSpPr>
        <p:spPr>
          <a:xfrm>
            <a:off x="877824" y="1399032"/>
            <a:ext cx="914400" cy="7680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331720"/>
            <a:ext cx="184708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定时触发器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697480"/>
            <a:ext cx="1847088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Cron 定时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每天早8点自动启动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68296" y="2240280"/>
            <a:ext cx="420624" cy="310896"/>
          </a:xfrm>
          <a:prstGeom prst="rightArrow">
            <a:avLst/>
          </a:prstGeom>
          <a:solidFill>
            <a:srgbClr val="F0EEE9"/>
          </a:solidFill>
        </p:spPr>
      </p:sp>
      <p:sp>
        <p:nvSpPr>
          <p:cNvPr id="10" name="Shape 8"/>
          <p:cNvSpPr/>
          <p:nvPr/>
        </p:nvSpPr>
        <p:spPr>
          <a:xfrm>
            <a:off x="2487168" y="1143000"/>
            <a:ext cx="2029968" cy="2697480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9050">
            <a:solidFill>
              <a:srgbClr val="1A365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44952" y="1325880"/>
            <a:ext cx="914400" cy="914400"/>
          </a:xfrm>
          <a:prstGeom prst="ellipse">
            <a:avLst/>
          </a:prstGeom>
          <a:solidFill>
            <a:srgbClr val="1A365D"/>
          </a:solidFill>
        </p:spPr>
      </p:sp>
      <p:sp>
        <p:nvSpPr>
          <p:cNvPr id="12" name="Text 10"/>
          <p:cNvSpPr/>
          <p:nvPr/>
        </p:nvSpPr>
        <p:spPr>
          <a:xfrm>
            <a:off x="2976372" y="1399032"/>
            <a:ext cx="914400" cy="7680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78608" y="2331720"/>
            <a:ext cx="184708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Firecrawl</a:t>
            </a:r>
            <a:endParaRPr lang="en-US" sz="1300" b="1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578608" y="2697480"/>
            <a:ext cx="1847088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230000"/>
              </a:lnSpc>
              <a:buNone/>
            </a:pPr>
            <a:r>
              <a:rPr lang="en-US" sz="1050" dirty="0">
                <a:solidFill>
                  <a:srgbClr val="1E293B"/>
                </a:solidFill>
                <a:sym typeface="+mn-ea"/>
              </a:rPr>
              <a:t>获取多平台新闻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35424" y="2240280"/>
            <a:ext cx="420624" cy="310896"/>
          </a:xfrm>
          <a:prstGeom prst="rightArrow">
            <a:avLst/>
          </a:prstGeom>
          <a:solidFill>
            <a:srgbClr val="F0EEE9"/>
          </a:solidFill>
        </p:spPr>
      </p:sp>
      <p:sp>
        <p:nvSpPr>
          <p:cNvPr id="16" name="Shape 14"/>
          <p:cNvSpPr/>
          <p:nvPr/>
        </p:nvSpPr>
        <p:spPr>
          <a:xfrm>
            <a:off x="4654296" y="1143000"/>
            <a:ext cx="2029968" cy="2697480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9050">
            <a:solidFill>
              <a:srgbClr val="36454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12080" y="1325880"/>
            <a:ext cx="914400" cy="914400"/>
          </a:xfrm>
          <a:prstGeom prst="ellipse">
            <a:avLst/>
          </a:prstGeom>
          <a:solidFill>
            <a:srgbClr val="36454F"/>
          </a:solidFill>
        </p:spPr>
      </p:sp>
      <p:sp>
        <p:nvSpPr>
          <p:cNvPr id="18" name="Text 16"/>
          <p:cNvSpPr/>
          <p:nvPr/>
        </p:nvSpPr>
        <p:spPr>
          <a:xfrm>
            <a:off x="5151120" y="1399032"/>
            <a:ext cx="914400" cy="7680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45736" y="2331720"/>
            <a:ext cx="184708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代码执行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45736" y="2697480"/>
            <a:ext cx="1847088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Python脚本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清洗+格式化数据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02552" y="2240280"/>
            <a:ext cx="420624" cy="310896"/>
          </a:xfrm>
          <a:prstGeom prst="rightArrow">
            <a:avLst/>
          </a:prstGeom>
          <a:solidFill>
            <a:srgbClr val="F0EEE9"/>
          </a:solidFill>
        </p:spPr>
      </p:sp>
      <p:sp>
        <p:nvSpPr>
          <p:cNvPr id="22" name="Shape 20"/>
          <p:cNvSpPr/>
          <p:nvPr/>
        </p:nvSpPr>
        <p:spPr>
          <a:xfrm>
            <a:off x="6821424" y="1143000"/>
            <a:ext cx="2029968" cy="2697480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9050">
            <a:solidFill>
              <a:srgbClr val="2D865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79208" y="1325880"/>
            <a:ext cx="914400" cy="914400"/>
          </a:xfrm>
          <a:prstGeom prst="ellipse">
            <a:avLst/>
          </a:prstGeom>
          <a:solidFill>
            <a:srgbClr val="2D8659"/>
          </a:solidFill>
        </p:spPr>
      </p:sp>
      <p:sp>
        <p:nvSpPr>
          <p:cNvPr id="25" name="Text 23"/>
          <p:cNvSpPr/>
          <p:nvPr/>
        </p:nvSpPr>
        <p:spPr>
          <a:xfrm>
            <a:off x="6912864" y="2331720"/>
            <a:ext cx="184708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发送群消息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12864" y="2697480"/>
            <a:ext cx="1847088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企业微信Webhook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推送到指定群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1894967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关键配置项</a:t>
            </a:r>
            <a:endParaRPr lang="en-US" sz="1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/>
        </p:nvGraphicFramePr>
        <p:xfrm>
          <a:off x="548640" y="2288159"/>
          <a:ext cx="8046720" cy="1232535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3474720"/>
              </a:tblGrid>
              <a:tr h="2571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配置项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值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作用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1499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CRON 表达式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0 8 * * *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每日 08:00 触发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9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WAITFOR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1000ms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等待页面加载完成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9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TIMEOUT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30000ms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请求超时上限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9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MESSAGE_TYPE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markdown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富文本格式输出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</a:rPr>
              <a:t>06</a:t>
            </a:r>
            <a:endParaRPr lang="en-US" sz="900" dirty="0"/>
          </a:p>
        </p:txBody>
      </p:sp>
      <p:pic>
        <p:nvPicPr>
          <p:cNvPr id="30" name="图片 29" descr="信息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5070" y="1513840"/>
            <a:ext cx="581660" cy="581660"/>
          </a:xfrm>
          <a:prstGeom prst="rect">
            <a:avLst/>
          </a:prstGeom>
        </p:spPr>
      </p:pic>
      <p:pic>
        <p:nvPicPr>
          <p:cNvPr id="24" name="图片 23" descr="人才招募令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980045" y="0"/>
            <a:ext cx="1164244" cy="66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379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37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37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37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73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21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4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6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0"/>
                            </p:stCondLst>
                            <p:childTnLst>
                              <p:par>
                                <p:cTn id="57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4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4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0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000"/>
                            </p:stCondLst>
                            <p:childTnLst>
                              <p:par>
                                <p:cTn id="7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091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500"/>
                            </p:stCondLst>
                            <p:childTnLst>
                              <p:par>
                                <p:cTn id="8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1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000"/>
                            </p:stCondLst>
                            <p:childTnLst>
                              <p:par>
                                <p:cTn id="87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044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500"/>
                            </p:stCondLst>
                            <p:childTnLst>
                              <p:par>
                                <p:cTn id="93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1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000"/>
                            </p:stCondLst>
                            <p:childTnLst>
                              <p:par>
                                <p:cTn id="99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1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8500"/>
                            </p:stCondLst>
                            <p:childTnLst>
                              <p:par>
                                <p:cTn id="10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47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9000"/>
                            </p:stCondLst>
                            <p:childTnLst>
                              <p:par>
                                <p:cTn id="11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461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9500"/>
                            </p:stCondLst>
                            <p:childTnLst>
                              <p:par>
                                <p:cTn id="11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48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3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48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0500"/>
                            </p:stCondLst>
                            <p:childTnLst>
                              <p:par>
                                <p:cTn id="129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48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1000"/>
                            </p:stCondLst>
                            <p:childTnLst>
                              <p:par>
                                <p:cTn id="13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48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508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99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2000"/>
                            </p:stCondLst>
                            <p:childTnLst>
                              <p:par>
                                <p:cTn id="145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37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2500"/>
                            </p:stCondLst>
                            <p:childTnLst>
                              <p:par>
                                <p:cTn id="151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37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3000"/>
                            </p:stCondLst>
                            <p:childTnLst>
                              <p:par>
                                <p:cTn id="157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37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3500"/>
                            </p:stCondLst>
                            <p:childTnLst>
                              <p:par>
                                <p:cTn id="16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73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4000"/>
                            </p:stCondLst>
                            <p:childTnLst>
                              <p:par>
                                <p:cTn id="16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21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4500"/>
                            </p:stCondLst>
                            <p:childTnLst>
                              <p:par>
                                <p:cTn id="17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4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5000"/>
                            </p:stCondLst>
                            <p:childTnLst>
                              <p:par>
                                <p:cTn id="181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6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5500"/>
                            </p:stCondLst>
                            <p:childTnLst>
                              <p:par>
                                <p:cTn id="187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4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16000"/>
                            </p:stCondLst>
                            <p:childTnLst>
                              <p:par>
                                <p:cTn id="193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4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16500"/>
                            </p:stCondLst>
                            <p:childTnLst>
                              <p:par>
                                <p:cTn id="19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0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17000"/>
                            </p:stCondLst>
                            <p:childTnLst>
                              <p:par>
                                <p:cTn id="20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091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17500"/>
                            </p:stCondLst>
                            <p:childTnLst>
                              <p:par>
                                <p:cTn id="21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1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18000"/>
                            </p:stCondLst>
                            <p:childTnLst>
                              <p:par>
                                <p:cTn id="217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044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18500"/>
                            </p:stCondLst>
                            <p:childTnLst>
                              <p:par>
                                <p:cTn id="223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1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19000"/>
                            </p:stCondLst>
                            <p:childTnLst>
                              <p:par>
                                <p:cTn id="229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1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19500"/>
                            </p:stCondLst>
                            <p:childTnLst>
                              <p:par>
                                <p:cTn id="23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47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20000"/>
                            </p:stCondLst>
                            <p:childTnLst>
                              <p:par>
                                <p:cTn id="24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461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20500"/>
                            </p:stCondLst>
                            <p:childTnLst>
                              <p:par>
                                <p:cTn id="24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48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21000"/>
                            </p:stCondLst>
                            <p:childTnLst>
                              <p:par>
                                <p:cTn id="253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48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21500"/>
                            </p:stCondLst>
                            <p:childTnLst>
                              <p:par>
                                <p:cTn id="259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48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22000"/>
                            </p:stCondLst>
                            <p:childTnLst>
                              <p:par>
                                <p:cTn id="26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48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508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22500"/>
                            </p:stCondLst>
                            <p:childTnLst>
                              <p:par>
                                <p:cTn id="271" presetID="10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2" dur="99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23000"/>
                            </p:stCondLst>
                            <p:childTnLst>
                              <p:par>
                                <p:cTn id="275" presetID="35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37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23500"/>
                            </p:stCondLst>
                            <p:childTnLst>
                              <p:par>
                                <p:cTn id="281" presetID="35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37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24000"/>
                            </p:stCondLst>
                            <p:childTnLst>
                              <p:par>
                                <p:cTn id="28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73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24500"/>
                            </p:stCondLst>
                            <p:childTnLst>
                              <p:par>
                                <p:cTn id="29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21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25000"/>
                            </p:stCondLst>
                            <p:childTnLst>
                              <p:par>
                                <p:cTn id="29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4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25500"/>
                            </p:stCondLst>
                            <p:childTnLst>
                              <p:par>
                                <p:cTn id="305" presetID="35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6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26000"/>
                            </p:stCondLst>
                            <p:childTnLst>
                              <p:par>
                                <p:cTn id="311" presetID="35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4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26500"/>
                            </p:stCondLst>
                            <p:childTnLst>
                              <p:par>
                                <p:cTn id="317" presetID="35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4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27000"/>
                            </p:stCondLst>
                            <p:childTnLst>
                              <p:par>
                                <p:cTn id="32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0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27500"/>
                            </p:stCondLst>
                            <p:childTnLst>
                              <p:par>
                                <p:cTn id="32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091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28000"/>
                            </p:stCondLst>
                            <p:childTnLst>
                              <p:par>
                                <p:cTn id="33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1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28500"/>
                            </p:stCondLst>
                            <p:childTnLst>
                              <p:par>
                                <p:cTn id="341" presetID="35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044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29000"/>
                            </p:stCondLst>
                            <p:childTnLst>
                              <p:par>
                                <p:cTn id="347" presetID="35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1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29500"/>
                            </p:stCondLst>
                            <p:childTnLst>
                              <p:par>
                                <p:cTn id="353" presetID="35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1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30000"/>
                            </p:stCondLst>
                            <p:childTnLst>
                              <p:par>
                                <p:cTn id="35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47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30500"/>
                            </p:stCondLst>
                            <p:childTnLst>
                              <p:par>
                                <p:cTn id="36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461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>
                            <p:stCondLst>
                              <p:cond delay="31000"/>
                            </p:stCondLst>
                            <p:childTnLst>
                              <p:par>
                                <p:cTn id="37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48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6" fill="hold">
                            <p:stCondLst>
                              <p:cond delay="31500"/>
                            </p:stCondLst>
                            <p:childTnLst>
                              <p:par>
                                <p:cTn id="377" presetID="35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48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2" fill="hold">
                            <p:stCondLst>
                              <p:cond delay="32000"/>
                            </p:stCondLst>
                            <p:childTnLst>
                              <p:par>
                                <p:cTn id="383" presetID="35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48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" fill="hold">
                            <p:stCondLst>
                              <p:cond delay="32500"/>
                            </p:stCondLst>
                            <p:childTnLst>
                              <p:par>
                                <p:cTn id="38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48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508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4" fill="hold">
                            <p:stCondLst>
                              <p:cond delay="33000"/>
                            </p:stCondLst>
                            <p:childTnLst>
                              <p:par>
                                <p:cTn id="395" presetID="10" presetClass="exit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6" dur="99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33500"/>
                            </p:stCondLst>
                            <p:childTnLst>
                              <p:par>
                                <p:cTn id="399" presetID="35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37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4" fill="hold">
                            <p:stCondLst>
                              <p:cond delay="34000"/>
                            </p:stCondLst>
                            <p:childTnLst>
                              <p:par>
                                <p:cTn id="40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73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34500"/>
                            </p:stCondLst>
                            <p:childTnLst>
                              <p:par>
                                <p:cTn id="41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21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6" fill="hold">
                            <p:stCondLst>
                              <p:cond delay="35000"/>
                            </p:stCondLst>
                            <p:childTnLst>
                              <p:par>
                                <p:cTn id="41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4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2" fill="hold">
                            <p:stCondLst>
                              <p:cond delay="35500"/>
                            </p:stCondLst>
                            <p:childTnLst>
                              <p:par>
                                <p:cTn id="423" presetID="35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6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8" fill="hold">
                            <p:stCondLst>
                              <p:cond delay="36000"/>
                            </p:stCondLst>
                            <p:childTnLst>
                              <p:par>
                                <p:cTn id="429" presetID="35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4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4" fill="hold">
                            <p:stCondLst>
                              <p:cond delay="36500"/>
                            </p:stCondLst>
                            <p:childTnLst>
                              <p:par>
                                <p:cTn id="435" presetID="35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4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" fill="hold">
                            <p:stCondLst>
                              <p:cond delay="37000"/>
                            </p:stCondLst>
                            <p:childTnLst>
                              <p:par>
                                <p:cTn id="44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0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6" fill="hold">
                            <p:stCondLst>
                              <p:cond delay="37500"/>
                            </p:stCondLst>
                            <p:childTnLst>
                              <p:par>
                                <p:cTn id="44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091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2" fill="hold">
                            <p:stCondLst>
                              <p:cond delay="38000"/>
                            </p:stCondLst>
                            <p:childTnLst>
                              <p:par>
                                <p:cTn id="45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1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8" fill="hold">
                            <p:stCondLst>
                              <p:cond delay="38500"/>
                            </p:stCondLst>
                            <p:childTnLst>
                              <p:par>
                                <p:cTn id="459" presetID="35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044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4" fill="hold">
                            <p:stCondLst>
                              <p:cond delay="39000"/>
                            </p:stCondLst>
                            <p:childTnLst>
                              <p:par>
                                <p:cTn id="465" presetID="35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1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0" fill="hold">
                            <p:stCondLst>
                              <p:cond delay="39500"/>
                            </p:stCondLst>
                            <p:childTnLst>
                              <p:par>
                                <p:cTn id="471" presetID="35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1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6" fill="hold">
                            <p:stCondLst>
                              <p:cond delay="40000"/>
                            </p:stCondLst>
                            <p:childTnLst>
                              <p:par>
                                <p:cTn id="47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47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2" fill="hold">
                            <p:stCondLst>
                              <p:cond delay="40500"/>
                            </p:stCondLst>
                            <p:childTnLst>
                              <p:par>
                                <p:cTn id="48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461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8" fill="hold">
                            <p:stCondLst>
                              <p:cond delay="41000"/>
                            </p:stCondLst>
                            <p:childTnLst>
                              <p:par>
                                <p:cTn id="48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48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4" fill="hold">
                            <p:stCondLst>
                              <p:cond delay="41500"/>
                            </p:stCondLst>
                            <p:childTnLst>
                              <p:par>
                                <p:cTn id="495" presetID="35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48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0" fill="hold">
                            <p:stCondLst>
                              <p:cond delay="42000"/>
                            </p:stCondLst>
                            <p:childTnLst>
                              <p:par>
                                <p:cTn id="501" presetID="35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48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6" fill="hold">
                            <p:stCondLst>
                              <p:cond delay="42500"/>
                            </p:stCondLst>
                            <p:childTnLst>
                              <p:par>
                                <p:cTn id="50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48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508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2" fill="hold">
                            <p:stCondLst>
                              <p:cond delay="43000"/>
                            </p:stCondLst>
                            <p:childTnLst>
                              <p:par>
                                <p:cTn id="513" presetID="10" presetClass="exit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4" dur="99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6" fill="hold">
                            <p:stCondLst>
                              <p:cond delay="43500"/>
                            </p:stCondLst>
                            <p:childTnLst>
                              <p:par>
                                <p:cTn id="51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66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2" fill="hold">
                            <p:stCondLst>
                              <p:cond delay="44000"/>
                            </p:stCondLst>
                            <p:childTnLst>
                              <p:par>
                                <p:cTn id="52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651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8" fill="hold">
                            <p:stCondLst>
                              <p:cond delay="44500"/>
                            </p:stCondLst>
                            <p:childTnLst>
                              <p:par>
                                <p:cTn id="52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67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4" fill="hold">
                            <p:stCondLst>
                              <p:cond delay="45000"/>
                            </p:stCondLst>
                            <p:childTnLst>
                              <p:par>
                                <p:cTn id="535" presetID="35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59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0" fill="hold">
                            <p:stCondLst>
                              <p:cond delay="45500"/>
                            </p:stCondLst>
                            <p:childTnLst>
                              <p:par>
                                <p:cTn id="541" presetID="35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67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6" fill="hold">
                            <p:stCondLst>
                              <p:cond delay="46000"/>
                            </p:stCondLst>
                            <p:childTnLst>
                              <p:par>
                                <p:cTn id="547" presetID="35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67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2" fill="hold">
                            <p:stCondLst>
                              <p:cond delay="46500"/>
                            </p:stCondLst>
                            <p:childTnLst>
                              <p:par>
                                <p:cTn id="55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03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8" fill="hold">
                            <p:stCondLst>
                              <p:cond delay="47000"/>
                            </p:stCondLst>
                            <p:childTnLst>
                              <p:par>
                                <p:cTn id="55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021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4" fill="hold">
                            <p:stCondLst>
                              <p:cond delay="47500"/>
                            </p:stCondLst>
                            <p:childTnLst>
                              <p:par>
                                <p:cTn id="56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04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0" fill="hold">
                            <p:stCondLst>
                              <p:cond delay="48000"/>
                            </p:stCondLst>
                            <p:childTnLst>
                              <p:par>
                                <p:cTn id="571" presetID="35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74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6" fill="hold">
                            <p:stCondLst>
                              <p:cond delay="48500"/>
                            </p:stCondLst>
                            <p:childTnLst>
                              <p:par>
                                <p:cTn id="577" presetID="35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04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2" fill="hold">
                            <p:stCondLst>
                              <p:cond delay="49000"/>
                            </p:stCondLst>
                            <p:childTnLst>
                              <p:par>
                                <p:cTn id="583" presetID="35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04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8" fill="hold">
                            <p:stCondLst>
                              <p:cond delay="49500"/>
                            </p:stCondLst>
                            <p:childTnLst>
                              <p:par>
                                <p:cTn id="58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40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4" fill="hold">
                            <p:stCondLst>
                              <p:cond delay="50000"/>
                            </p:stCondLst>
                            <p:childTnLst>
                              <p:par>
                                <p:cTn id="59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391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0" fill="hold">
                            <p:stCondLst>
                              <p:cond delay="50500"/>
                            </p:stCondLst>
                            <p:childTnLst>
                              <p:par>
                                <p:cTn id="60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41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6" fill="hold">
                            <p:stCondLst>
                              <p:cond delay="51000"/>
                            </p:stCondLst>
                            <p:childTnLst>
                              <p:par>
                                <p:cTn id="607" presetID="35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41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2" fill="hold">
                            <p:stCondLst>
                              <p:cond delay="51500"/>
                            </p:stCondLst>
                            <p:childTnLst>
                              <p:par>
                                <p:cTn id="613" presetID="35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41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8" fill="hold">
                            <p:stCondLst>
                              <p:cond delay="52000"/>
                            </p:stCondLst>
                            <p:childTnLst>
                              <p:par>
                                <p:cTn id="61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4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508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4" fill="hold">
                            <p:stCondLst>
                              <p:cond delay="52500"/>
                            </p:stCondLst>
                            <p:childTnLst>
                              <p:par>
                                <p:cTn id="62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6" dur="99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8" fill="hold">
                            <p:stCondLst>
                              <p:cond delay="53000"/>
                            </p:stCondLst>
                            <p:childTnLst>
                              <p:par>
                                <p:cTn id="62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62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4" fill="hold">
                            <p:stCondLst>
                              <p:cond delay="53500"/>
                            </p:stCondLst>
                            <p:childTnLst>
                              <p:par>
                                <p:cTn id="63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6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0" fill="hold">
                            <p:stCondLst>
                              <p:cond delay="54000"/>
                            </p:stCondLst>
                            <p:childTnLst>
                              <p:par>
                                <p:cTn id="641" presetID="35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5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6" fill="hold">
                            <p:stCondLst>
                              <p:cond delay="54500"/>
                            </p:stCondLst>
                            <p:childTnLst>
                              <p:par>
                                <p:cTn id="647" presetID="35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6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2" fill="hold">
                            <p:stCondLst>
                              <p:cond delay="55000"/>
                            </p:stCondLst>
                            <p:childTnLst>
                              <p:par>
                                <p:cTn id="653" presetID="35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6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8" fill="hold">
                            <p:stCondLst>
                              <p:cond delay="55500"/>
                            </p:stCondLst>
                            <p:childTnLst>
                              <p:par>
                                <p:cTn id="65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0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4" fill="hold">
                            <p:stCondLst>
                              <p:cond delay="56000"/>
                            </p:stCondLst>
                            <p:childTnLst>
                              <p:par>
                                <p:cTn id="66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9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0" fill="hold">
                            <p:stCondLst>
                              <p:cond delay="56500"/>
                            </p:stCondLst>
                            <p:childTnLst>
                              <p:par>
                                <p:cTn id="67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01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6" fill="hold">
                            <p:stCondLst>
                              <p:cond delay="57000"/>
                            </p:stCondLst>
                            <p:childTnLst>
                              <p:par>
                                <p:cTn id="677" presetID="35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48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2" fill="hold">
                            <p:stCondLst>
                              <p:cond delay="57500"/>
                            </p:stCondLst>
                            <p:childTnLst>
                              <p:par>
                                <p:cTn id="683" presetID="35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01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8" fill="hold">
                            <p:stCondLst>
                              <p:cond delay="58000"/>
                            </p:stCondLst>
                            <p:childTnLst>
                              <p:par>
                                <p:cTn id="689" presetID="35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01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4" fill="hold">
                            <p:stCondLst>
                              <p:cond delay="58500"/>
                            </p:stCondLst>
                            <p:childTnLst>
                              <p:par>
                                <p:cTn id="69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3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0" fill="hold">
                            <p:stCondLst>
                              <p:cond delay="59000"/>
                            </p:stCondLst>
                            <p:childTnLst>
                              <p:par>
                                <p:cTn id="70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36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6" fill="hold">
                            <p:stCondLst>
                              <p:cond delay="59500"/>
                            </p:stCondLst>
                            <p:childTnLst>
                              <p:par>
                                <p:cTn id="70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38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2" fill="hold">
                            <p:stCondLst>
                              <p:cond delay="60000"/>
                            </p:stCondLst>
                            <p:childTnLst>
                              <p:par>
                                <p:cTn id="713" presetID="35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38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8" fill="hold">
                            <p:stCondLst>
                              <p:cond delay="60500"/>
                            </p:stCondLst>
                            <p:childTnLst>
                              <p:par>
                                <p:cTn id="719" presetID="35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38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4" fill="hold">
                            <p:stCondLst>
                              <p:cond delay="61000"/>
                            </p:stCondLst>
                            <p:childTnLst>
                              <p:par>
                                <p:cTn id="72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38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508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0" fill="hold">
                            <p:stCondLst>
                              <p:cond delay="61500"/>
                            </p:stCondLst>
                            <p:childTnLst>
                              <p:par>
                                <p:cTn id="73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2" dur="9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3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4" fill="hold">
                            <p:stCondLst>
                              <p:cond delay="62000"/>
                            </p:stCondLst>
                            <p:childTnLst>
                              <p:par>
                                <p:cTn id="73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55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0" fill="hold">
                            <p:stCondLst>
                              <p:cond delay="62500"/>
                            </p:stCondLst>
                            <p:childTnLst>
                              <p:par>
                                <p:cTn id="741" presetID="35" presetClass="path" presetSubtype="0" accel="50000" decel="5000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48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6" fill="hold">
                            <p:stCondLst>
                              <p:cond delay="63000"/>
                            </p:stCondLst>
                            <p:childTnLst>
                              <p:par>
                                <p:cTn id="747" presetID="35" presetClass="path" presetSubtype="0" accel="50000" decel="5000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55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2" fill="hold">
                            <p:stCondLst>
                              <p:cond delay="63500"/>
                            </p:stCondLst>
                            <p:childTnLst>
                              <p:par>
                                <p:cTn id="753" presetID="35" presetClass="path" presetSubtype="0" accel="50000" decel="5000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55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8" fill="hold">
                            <p:stCondLst>
                              <p:cond delay="64000"/>
                            </p:stCondLst>
                            <p:childTnLst>
                              <p:par>
                                <p:cTn id="75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91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4" fill="hold">
                            <p:stCondLst>
                              <p:cond delay="64500"/>
                            </p:stCondLst>
                            <p:childTnLst>
                              <p:par>
                                <p:cTn id="76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06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0" fill="hold">
                            <p:stCondLst>
                              <p:cond delay="65000"/>
                            </p:stCondLst>
                            <p:childTnLst>
                              <p:par>
                                <p:cTn id="77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2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6" fill="hold">
                            <p:stCondLst>
                              <p:cond delay="65500"/>
                            </p:stCondLst>
                            <p:childTnLst>
                              <p:par>
                                <p:cTn id="777" presetID="35" presetClass="path" presetSubtype="0" accel="50000" decel="5000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859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2" fill="hold">
                            <p:stCondLst>
                              <p:cond delay="66000"/>
                            </p:stCondLst>
                            <p:childTnLst>
                              <p:par>
                                <p:cTn id="783" presetID="35" presetClass="path" presetSubtype="0" accel="50000" decel="5000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2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8" fill="hold">
                            <p:stCondLst>
                              <p:cond delay="66500"/>
                            </p:stCondLst>
                            <p:childTnLst>
                              <p:par>
                                <p:cTn id="789" presetID="35" presetClass="path" presetSubtype="0" accel="50000" decel="5000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2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4" fill="hold">
                            <p:stCondLst>
                              <p:cond delay="67000"/>
                            </p:stCondLst>
                            <p:childTnLst>
                              <p:par>
                                <p:cTn id="79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9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28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0" fill="hold">
                            <p:stCondLst>
                              <p:cond delay="67500"/>
                            </p:stCondLst>
                            <p:childTnLst>
                              <p:par>
                                <p:cTn id="80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276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6" fill="hold">
                            <p:stCondLst>
                              <p:cond delay="68000"/>
                            </p:stCondLst>
                            <p:childTnLst>
                              <p:par>
                                <p:cTn id="80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29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2" fill="hold">
                            <p:stCondLst>
                              <p:cond delay="68500"/>
                            </p:stCondLst>
                            <p:childTnLst>
                              <p:par>
                                <p:cTn id="813" presetID="35" presetClass="path" presetSubtype="0" accel="50000" decel="5000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29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8" fill="hold">
                            <p:stCondLst>
                              <p:cond delay="69000"/>
                            </p:stCondLst>
                            <p:childTnLst>
                              <p:par>
                                <p:cTn id="819" presetID="35" presetClass="path" presetSubtype="0" accel="50000" decel="5000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29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4" fill="hold">
                            <p:stCondLst>
                              <p:cond delay="69500"/>
                            </p:stCondLst>
                            <p:childTnLst>
                              <p:par>
                                <p:cTn id="82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29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508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0" fill="hold">
                            <p:stCondLst>
                              <p:cond delay="70000"/>
                            </p:stCondLst>
                            <p:childTnLst>
                              <p:par>
                                <p:cTn id="83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2" dur="99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3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4" fill="hold">
                            <p:stCondLst>
                              <p:cond delay="70500"/>
                            </p:stCondLst>
                            <p:childTnLst>
                              <p:par>
                                <p:cTn id="835" presetID="35" presetClass="path" presetSubtype="0" accel="50000" decel="5000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48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0" fill="hold">
                            <p:stCondLst>
                              <p:cond delay="71000"/>
                            </p:stCondLst>
                            <p:childTnLst>
                              <p:par>
                                <p:cTn id="841" presetID="35" presetClass="path" presetSubtype="0" accel="50000" decel="5000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55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6" fill="hold">
                            <p:stCondLst>
                              <p:cond delay="71500"/>
                            </p:stCondLst>
                            <p:childTnLst>
                              <p:par>
                                <p:cTn id="847" presetID="35" presetClass="path" presetSubtype="0" accel="50000" decel="5000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55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2" fill="hold">
                            <p:stCondLst>
                              <p:cond delay="72000"/>
                            </p:stCondLst>
                            <p:childTnLst>
                              <p:par>
                                <p:cTn id="85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91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8" fill="hold">
                            <p:stCondLst>
                              <p:cond delay="72500"/>
                            </p:stCondLst>
                            <p:childTnLst>
                              <p:par>
                                <p:cTn id="85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06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4" fill="hold">
                            <p:stCondLst>
                              <p:cond delay="73000"/>
                            </p:stCondLst>
                            <p:childTnLst>
                              <p:par>
                                <p:cTn id="86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2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0" fill="hold">
                            <p:stCondLst>
                              <p:cond delay="73500"/>
                            </p:stCondLst>
                            <p:childTnLst>
                              <p:par>
                                <p:cTn id="871" presetID="35" presetClass="path" presetSubtype="0" accel="50000" decel="5000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859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6" fill="hold">
                            <p:stCondLst>
                              <p:cond delay="74000"/>
                            </p:stCondLst>
                            <p:childTnLst>
                              <p:par>
                                <p:cTn id="877" presetID="35" presetClass="path" presetSubtype="0" accel="50000" decel="5000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2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2" fill="hold">
                            <p:stCondLst>
                              <p:cond delay="74500"/>
                            </p:stCondLst>
                            <p:childTnLst>
                              <p:par>
                                <p:cTn id="883" presetID="35" presetClass="path" presetSubtype="0" accel="50000" decel="5000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2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8" fill="hold">
                            <p:stCondLst>
                              <p:cond delay="75000"/>
                            </p:stCondLst>
                            <p:childTnLst>
                              <p:par>
                                <p:cTn id="88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28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4" fill="hold">
                            <p:stCondLst>
                              <p:cond delay="75500"/>
                            </p:stCondLst>
                            <p:childTnLst>
                              <p:par>
                                <p:cTn id="89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9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276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0" fill="hold">
                            <p:stCondLst>
                              <p:cond delay="76000"/>
                            </p:stCondLst>
                            <p:childTnLst>
                              <p:par>
                                <p:cTn id="90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29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6" fill="hold">
                            <p:stCondLst>
                              <p:cond delay="76500"/>
                            </p:stCondLst>
                            <p:childTnLst>
                              <p:par>
                                <p:cTn id="907" presetID="35" presetClass="path" presetSubtype="0" accel="50000" decel="5000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29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2" fill="hold">
                            <p:stCondLst>
                              <p:cond delay="77000"/>
                            </p:stCondLst>
                            <p:childTnLst>
                              <p:par>
                                <p:cTn id="913" presetID="35" presetClass="path" presetSubtype="0" accel="50000" decel="5000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29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8" fill="hold">
                            <p:stCondLst>
                              <p:cond delay="77500"/>
                            </p:stCondLst>
                            <p:childTnLst>
                              <p:par>
                                <p:cTn id="91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29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508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4" fill="hold">
                            <p:stCondLst>
                              <p:cond delay="78000"/>
                            </p:stCondLst>
                            <p:childTnLst>
                              <p:par>
                                <p:cTn id="925" presetID="10" presetClass="exit" presetSubtype="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6" dur="99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8" fill="hold">
                            <p:stCondLst>
                              <p:cond delay="78500"/>
                            </p:stCondLst>
                            <p:childTnLst>
                              <p:par>
                                <p:cTn id="929" presetID="35" presetClass="path" presetSubtype="0" accel="50000" decel="5000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55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4" fill="hold">
                            <p:stCondLst>
                              <p:cond delay="79000"/>
                            </p:stCondLst>
                            <p:childTnLst>
                              <p:par>
                                <p:cTn id="935" presetID="35" presetClass="path" presetSubtype="0" accel="50000" decel="5000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55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0" fill="hold">
                            <p:stCondLst>
                              <p:cond delay="79500"/>
                            </p:stCondLst>
                            <p:childTnLst>
                              <p:par>
                                <p:cTn id="94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91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6" fill="hold">
                            <p:stCondLst>
                              <p:cond delay="80000"/>
                            </p:stCondLst>
                            <p:childTnLst>
                              <p:par>
                                <p:cTn id="94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06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2" fill="hold">
                            <p:stCondLst>
                              <p:cond delay="80500"/>
                            </p:stCondLst>
                            <p:childTnLst>
                              <p:par>
                                <p:cTn id="95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2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8" fill="hold">
                            <p:stCondLst>
                              <p:cond delay="81000"/>
                            </p:stCondLst>
                            <p:childTnLst>
                              <p:par>
                                <p:cTn id="959" presetID="35" presetClass="path" presetSubtype="0" accel="50000" decel="5000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859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4" fill="hold">
                            <p:stCondLst>
                              <p:cond delay="81500"/>
                            </p:stCondLst>
                            <p:childTnLst>
                              <p:par>
                                <p:cTn id="965" presetID="35" presetClass="path" presetSubtype="0" accel="50000" decel="5000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2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0" fill="hold">
                            <p:stCondLst>
                              <p:cond delay="82000"/>
                            </p:stCondLst>
                            <p:childTnLst>
                              <p:par>
                                <p:cTn id="971" presetID="35" presetClass="path" presetSubtype="0" accel="50000" decel="5000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2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6" fill="hold">
                            <p:stCondLst>
                              <p:cond delay="82500"/>
                            </p:stCondLst>
                            <p:childTnLst>
                              <p:par>
                                <p:cTn id="97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28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2" fill="hold">
                            <p:stCondLst>
                              <p:cond delay="83000"/>
                            </p:stCondLst>
                            <p:childTnLst>
                              <p:par>
                                <p:cTn id="98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8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276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8" fill="hold">
                            <p:stCondLst>
                              <p:cond delay="83500"/>
                            </p:stCondLst>
                            <p:childTnLst>
                              <p:par>
                                <p:cTn id="98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29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4" fill="hold">
                            <p:stCondLst>
                              <p:cond delay="84000"/>
                            </p:stCondLst>
                            <p:childTnLst>
                              <p:par>
                                <p:cTn id="995" presetID="35" presetClass="path" presetSubtype="0" accel="50000" decel="5000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9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29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0" fill="hold">
                            <p:stCondLst>
                              <p:cond delay="84500"/>
                            </p:stCondLst>
                            <p:childTnLst>
                              <p:par>
                                <p:cTn id="1001" presetID="35" presetClass="path" presetSubtype="0" accel="50000" decel="5000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0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29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6" fill="hold">
                            <p:stCondLst>
                              <p:cond delay="85000"/>
                            </p:stCondLst>
                            <p:childTnLst>
                              <p:par>
                                <p:cTn id="100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0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29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508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2" fill="hold">
                            <p:stCondLst>
                              <p:cond delay="85500"/>
                            </p:stCondLst>
                            <p:childTnLst>
                              <p:par>
                                <p:cTn id="1013" presetID="10" presetClass="exit" presetSubtype="0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4" dur="99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6" fill="hold">
                            <p:stCondLst>
                              <p:cond delay="86000"/>
                            </p:stCondLst>
                            <p:childTnLst>
                              <p:par>
                                <p:cTn id="1017" presetID="35" presetClass="path" presetSubtype="0" accel="50000" decel="50000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55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2" fill="hold">
                            <p:stCondLst>
                              <p:cond delay="86500"/>
                            </p:stCondLst>
                            <p:childTnLst>
                              <p:par>
                                <p:cTn id="102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91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8" fill="hold">
                            <p:stCondLst>
                              <p:cond delay="87000"/>
                            </p:stCondLst>
                            <p:childTnLst>
                              <p:par>
                                <p:cTn id="102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06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4" fill="hold">
                            <p:stCondLst>
                              <p:cond delay="87500"/>
                            </p:stCondLst>
                            <p:childTnLst>
                              <p:par>
                                <p:cTn id="103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2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0" fill="hold">
                            <p:stCondLst>
                              <p:cond delay="88000"/>
                            </p:stCondLst>
                            <p:childTnLst>
                              <p:par>
                                <p:cTn id="1041" presetID="35" presetClass="path" presetSubtype="0" accel="50000" decel="50000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859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6" fill="hold">
                            <p:stCondLst>
                              <p:cond delay="88500"/>
                            </p:stCondLst>
                            <p:childTnLst>
                              <p:par>
                                <p:cTn id="1047" presetID="35" presetClass="path" presetSubtype="0" accel="50000" decel="50000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2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2" fill="hold">
                            <p:stCondLst>
                              <p:cond delay="89000"/>
                            </p:stCondLst>
                            <p:childTnLst>
                              <p:par>
                                <p:cTn id="1053" presetID="35" presetClass="path" presetSubtype="0" accel="50000" decel="50000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2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8" fill="hold">
                            <p:stCondLst>
                              <p:cond delay="89500"/>
                            </p:stCondLst>
                            <p:childTnLst>
                              <p:par>
                                <p:cTn id="105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28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4" fill="hold">
                            <p:stCondLst>
                              <p:cond delay="90000"/>
                            </p:stCondLst>
                            <p:childTnLst>
                              <p:par>
                                <p:cTn id="106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276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0" fill="hold">
                            <p:stCondLst>
                              <p:cond delay="90500"/>
                            </p:stCondLst>
                            <p:childTnLst>
                              <p:par>
                                <p:cTn id="107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29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6" fill="hold">
                            <p:stCondLst>
                              <p:cond delay="91000"/>
                            </p:stCondLst>
                            <p:childTnLst>
                              <p:par>
                                <p:cTn id="1077" presetID="35" presetClass="path" presetSubtype="0" accel="50000" decel="50000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29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2" fill="hold">
                            <p:stCondLst>
                              <p:cond delay="91500"/>
                            </p:stCondLst>
                            <p:childTnLst>
                              <p:par>
                                <p:cTn id="1083" presetID="35" presetClass="path" presetSubtype="0" accel="50000" decel="50000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8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29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8" fill="hold">
                            <p:stCondLst>
                              <p:cond delay="92000"/>
                            </p:stCondLst>
                            <p:childTnLst>
                              <p:par>
                                <p:cTn id="108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29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508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4" fill="hold">
                            <p:stCondLst>
                              <p:cond delay="92500"/>
                            </p:stCondLst>
                            <p:childTnLst>
                              <p:par>
                                <p:cTn id="1095" presetID="10" presetClass="exit" presetSubtype="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6" dur="99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8" fill="hold">
                            <p:stCondLst>
                              <p:cond delay="93000"/>
                            </p:stCondLst>
                            <p:childTnLst>
                              <p:par>
                                <p:cTn id="109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0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84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4" fill="hold">
                            <p:stCondLst>
                              <p:cond delay="93500"/>
                            </p:stCondLst>
                            <p:childTnLst>
                              <p:par>
                                <p:cTn id="110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0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836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0" fill="hold">
                            <p:stCondLst>
                              <p:cond delay="94000"/>
                            </p:stCondLst>
                            <p:childTnLst>
                              <p:par>
                                <p:cTn id="111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85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6" fill="hold">
                            <p:stCondLst>
                              <p:cond delay="94500"/>
                            </p:stCondLst>
                            <p:childTnLst>
                              <p:par>
                                <p:cTn id="1117" presetID="35" presetClass="path" presetSubtype="0" accel="50000" decel="5000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89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2" fill="hold">
                            <p:stCondLst>
                              <p:cond delay="95000"/>
                            </p:stCondLst>
                            <p:childTnLst>
                              <p:par>
                                <p:cTn id="1123" presetID="35" presetClass="path" presetSubtype="0" accel="50000" decel="5000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85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8" fill="hold">
                            <p:stCondLst>
                              <p:cond delay="95500"/>
                            </p:stCondLst>
                            <p:childTnLst>
                              <p:par>
                                <p:cTn id="1129" presetID="35" presetClass="path" presetSubtype="0" accel="50000" decel="5000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85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4" fill="hold">
                            <p:stCondLst>
                              <p:cond delay="96000"/>
                            </p:stCondLst>
                            <p:childTnLst>
                              <p:par>
                                <p:cTn id="113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21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0" fill="hold">
                            <p:stCondLst>
                              <p:cond delay="96500"/>
                            </p:stCondLst>
                            <p:childTnLst>
                              <p:par>
                                <p:cTn id="114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206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6" fill="hold">
                            <p:stCondLst>
                              <p:cond delay="97000"/>
                            </p:stCondLst>
                            <p:childTnLst>
                              <p:par>
                                <p:cTn id="114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22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2" fill="hold">
                            <p:stCondLst>
                              <p:cond delay="97500"/>
                            </p:stCondLst>
                            <p:childTnLst>
                              <p:par>
                                <p:cTn id="1153" presetID="35" presetClass="path" presetSubtype="0" accel="50000" decel="5000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22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8" fill="hold">
                            <p:stCondLst>
                              <p:cond delay="98000"/>
                            </p:stCondLst>
                            <p:childTnLst>
                              <p:par>
                                <p:cTn id="1159" presetID="35" presetClass="path" presetSubtype="0" accel="50000" decel="5000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226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4" fill="hold">
                            <p:stCondLst>
                              <p:cond delay="98500"/>
                            </p:stCondLst>
                            <p:childTnLst>
                              <p:par>
                                <p:cTn id="116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22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508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0" fill="hold">
                            <p:stCondLst>
                              <p:cond delay="99000"/>
                            </p:stCondLst>
                            <p:childTnLst>
                              <p:par>
                                <p:cTn id="117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2" dur="99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3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4" fill="hold">
                            <p:stCondLst>
                              <p:cond delay="99500"/>
                            </p:stCondLst>
                            <p:childTnLst>
                              <p:par>
                                <p:cTn id="117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810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0" fill="hold">
                            <p:stCondLst>
                              <p:cond delay="100000"/>
                            </p:stCondLst>
                            <p:childTnLst>
                              <p:par>
                                <p:cTn id="118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8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8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6" fill="hold">
                            <p:stCondLst>
                              <p:cond delay="100500"/>
                            </p:stCondLst>
                            <p:childTnLst>
                              <p:par>
                                <p:cTn id="1187" presetID="35" presetClass="path" presetSubtype="0" accel="50000" decel="50000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8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6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2" fill="hold">
                            <p:stCondLst>
                              <p:cond delay="101000"/>
                            </p:stCondLst>
                            <p:childTnLst>
                              <p:par>
                                <p:cTn id="1193" presetID="35" presetClass="path" presetSubtype="0" accel="50000" decel="50000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9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8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8" fill="hold">
                            <p:stCondLst>
                              <p:cond delay="101500"/>
                            </p:stCondLst>
                            <p:childTnLst>
                              <p:par>
                                <p:cTn id="1199" presetID="35" presetClass="path" presetSubtype="0" accel="50000" decel="50000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0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8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4" fill="hold">
                            <p:stCondLst>
                              <p:cond delay="102000"/>
                            </p:stCondLst>
                            <p:childTnLst>
                              <p:par>
                                <p:cTn id="120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0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0" fill="hold">
                            <p:stCondLst>
                              <p:cond delay="102500"/>
                            </p:stCondLst>
                            <p:childTnLst>
                              <p:par>
                                <p:cTn id="121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80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6" fill="hold">
                            <p:stCondLst>
                              <p:cond delay="103000"/>
                            </p:stCondLst>
                            <p:childTnLst>
                              <p:par>
                                <p:cTn id="121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2" fill="hold">
                            <p:stCondLst>
                              <p:cond delay="103500"/>
                            </p:stCondLst>
                            <p:childTnLst>
                              <p:par>
                                <p:cTn id="1223" presetID="35" presetClass="path" presetSubtype="0" accel="50000" decel="50000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8" fill="hold">
                            <p:stCondLst>
                              <p:cond delay="104000"/>
                            </p:stCondLst>
                            <p:childTnLst>
                              <p:par>
                                <p:cTn id="1229" presetID="35" presetClass="path" presetSubtype="0" accel="50000" decel="50000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4" fill="hold">
                            <p:stCondLst>
                              <p:cond delay="104500"/>
                            </p:stCondLst>
                            <p:childTnLst>
                              <p:par>
                                <p:cTn id="123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99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508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0" fill="hold">
                            <p:stCondLst>
                              <p:cond delay="105000"/>
                            </p:stCondLst>
                            <p:childTnLst>
                              <p:par>
                                <p:cTn id="124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2" dur="99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3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4" fill="hold">
                            <p:stCondLst>
                              <p:cond delay="105500"/>
                            </p:stCondLst>
                            <p:childTnLst>
                              <p:par>
                                <p:cTn id="124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4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0" fill="hold">
                            <p:stCondLst>
                              <p:cond delay="106000"/>
                            </p:stCondLst>
                            <p:childTnLst>
                              <p:par>
                                <p:cTn id="1251" presetID="35" presetClass="path" presetSubtype="0" accel="50000" decel="5000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74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6" fill="hold">
                            <p:stCondLst>
                              <p:cond delay="106500"/>
                            </p:stCondLst>
                            <p:childTnLst>
                              <p:par>
                                <p:cTn id="1257" presetID="35" presetClass="path" presetSubtype="0" accel="50000" decel="5000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5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4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2" fill="hold">
                            <p:stCondLst>
                              <p:cond delay="107000"/>
                            </p:stCondLst>
                            <p:childTnLst>
                              <p:par>
                                <p:cTn id="1263" presetID="35" presetClass="path" presetSubtype="0" accel="50000" decel="5000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6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4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8" fill="hold">
                            <p:stCondLst>
                              <p:cond delay="107500"/>
                            </p:stCondLst>
                            <p:childTnLst>
                              <p:par>
                                <p:cTn id="126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7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0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4" fill="hold">
                            <p:stCondLst>
                              <p:cond delay="108000"/>
                            </p:stCondLst>
                            <p:childTnLst>
                              <p:par>
                                <p:cTn id="127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7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091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0" fill="hold">
                            <p:stCondLst>
                              <p:cond delay="108500"/>
                            </p:stCondLst>
                            <p:childTnLst>
                              <p:par>
                                <p:cTn id="128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8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1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6" fill="hold">
                            <p:stCondLst>
                              <p:cond delay="109000"/>
                            </p:stCondLst>
                            <p:childTnLst>
                              <p:par>
                                <p:cTn id="1287" presetID="35" presetClass="path" presetSubtype="0" accel="50000" decel="5000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8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1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2" fill="hold">
                            <p:stCondLst>
                              <p:cond delay="109500"/>
                            </p:stCondLst>
                            <p:childTnLst>
                              <p:par>
                                <p:cTn id="1293" presetID="35" presetClass="path" presetSubtype="0" accel="50000" decel="5000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9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1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8" fill="hold">
                            <p:stCondLst>
                              <p:cond delay="110000"/>
                            </p:stCondLst>
                            <p:childTnLst>
                              <p:par>
                                <p:cTn id="129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0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508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4" fill="hold">
                            <p:stCondLst>
                              <p:cond delay="110500"/>
                            </p:stCondLst>
                            <p:childTnLst>
                              <p:par>
                                <p:cTn id="130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6" dur="99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8" fill="hold">
                            <p:stCondLst>
                              <p:cond delay="111000"/>
                            </p:stCondLst>
                            <p:childTnLst>
                              <p:par>
                                <p:cTn id="1309" presetID="35" presetClass="path" presetSubtype="0" accel="50000" decel="5000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74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4" fill="hold">
                            <p:stCondLst>
                              <p:cond delay="111500"/>
                            </p:stCondLst>
                            <p:childTnLst>
                              <p:par>
                                <p:cTn id="1315" presetID="35" presetClass="path" presetSubtype="0" accel="50000" decel="5000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4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0" fill="hold">
                            <p:stCondLst>
                              <p:cond delay="112000"/>
                            </p:stCondLst>
                            <p:childTnLst>
                              <p:par>
                                <p:cTn id="1321" presetID="35" presetClass="path" presetSubtype="0" accel="50000" decel="5000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4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6" fill="hold">
                            <p:stCondLst>
                              <p:cond delay="112500"/>
                            </p:stCondLst>
                            <p:childTnLst>
                              <p:par>
                                <p:cTn id="132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2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0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2" fill="hold">
                            <p:stCondLst>
                              <p:cond delay="113000"/>
                            </p:stCondLst>
                            <p:childTnLst>
                              <p:par>
                                <p:cTn id="133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091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8" fill="hold">
                            <p:stCondLst>
                              <p:cond delay="113500"/>
                            </p:stCondLst>
                            <p:childTnLst>
                              <p:par>
                                <p:cTn id="133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4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1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4" fill="hold">
                            <p:stCondLst>
                              <p:cond delay="114000"/>
                            </p:stCondLst>
                            <p:childTnLst>
                              <p:par>
                                <p:cTn id="1345" presetID="35" presetClass="path" presetSubtype="0" accel="50000" decel="5000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1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0" fill="hold">
                            <p:stCondLst>
                              <p:cond delay="114500"/>
                            </p:stCondLst>
                            <p:childTnLst>
                              <p:par>
                                <p:cTn id="1351" presetID="35" presetClass="path" presetSubtype="0" accel="50000" decel="5000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1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6" fill="hold">
                            <p:stCondLst>
                              <p:cond delay="115000"/>
                            </p:stCondLst>
                            <p:childTnLst>
                              <p:par>
                                <p:cTn id="135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5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508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2" fill="hold">
                            <p:stCondLst>
                              <p:cond delay="115500"/>
                            </p:stCondLst>
                            <p:childTnLst>
                              <p:par>
                                <p:cTn id="1363" presetID="10" presetClass="exit" presetSubtype="0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4" dur="99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6" fill="hold">
                            <p:stCondLst>
                              <p:cond delay="116000"/>
                            </p:stCondLst>
                            <p:childTnLst>
                              <p:par>
                                <p:cTn id="1367" presetID="35" presetClass="path" presetSubtype="0" accel="50000" decel="50000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6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4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2" fill="hold">
                            <p:stCondLst>
                              <p:cond delay="116500"/>
                            </p:stCondLst>
                            <p:childTnLst>
                              <p:par>
                                <p:cTn id="1373" presetID="35" presetClass="path" presetSubtype="0" accel="50000" decel="50000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4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8" fill="hold">
                            <p:stCondLst>
                              <p:cond delay="117000"/>
                            </p:stCondLst>
                            <p:childTnLst>
                              <p:par>
                                <p:cTn id="137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8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0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4" fill="hold">
                            <p:stCondLst>
                              <p:cond delay="117500"/>
                            </p:stCondLst>
                            <p:childTnLst>
                              <p:par>
                                <p:cTn id="138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8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091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0" fill="hold">
                            <p:stCondLst>
                              <p:cond delay="118000"/>
                            </p:stCondLst>
                            <p:childTnLst>
                              <p:par>
                                <p:cTn id="139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9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1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6" fill="hold">
                            <p:stCondLst>
                              <p:cond delay="118500"/>
                            </p:stCondLst>
                            <p:childTnLst>
                              <p:par>
                                <p:cTn id="1397" presetID="35" presetClass="path" presetSubtype="0" accel="50000" decel="50000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9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1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2" fill="hold">
                            <p:stCondLst>
                              <p:cond delay="119000"/>
                            </p:stCondLst>
                            <p:childTnLst>
                              <p:par>
                                <p:cTn id="1403" presetID="35" presetClass="path" presetSubtype="0" accel="50000" decel="50000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0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1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8" fill="hold">
                            <p:stCondLst>
                              <p:cond delay="119500"/>
                            </p:stCondLst>
                            <p:childTnLst>
                              <p:par>
                                <p:cTn id="140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508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1415" presetID="10" presetClass="exit" presetSubtype="0" fill="hold" grpId="17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6" dur="99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8" fill="hold">
                            <p:stCondLst>
                              <p:cond delay="120500"/>
                            </p:stCondLst>
                            <p:childTnLst>
                              <p:par>
                                <p:cTn id="1419" presetID="35" presetClass="path" presetSubtype="0" accel="50000" decel="50000" fill="hold" grpId="17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4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4" fill="hold">
                            <p:stCondLst>
                              <p:cond delay="121000"/>
                            </p:stCondLst>
                            <p:childTnLst>
                              <p:par>
                                <p:cTn id="142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0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0" fill="hold">
                            <p:stCondLst>
                              <p:cond delay="121500"/>
                            </p:stCondLst>
                            <p:childTnLst>
                              <p:par>
                                <p:cTn id="143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091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6" fill="hold">
                            <p:stCondLst>
                              <p:cond delay="122000"/>
                            </p:stCondLst>
                            <p:childTnLst>
                              <p:par>
                                <p:cTn id="143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1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2" fill="hold">
                            <p:stCondLst>
                              <p:cond delay="122500"/>
                            </p:stCondLst>
                            <p:childTnLst>
                              <p:par>
                                <p:cTn id="1443" presetID="35" presetClass="path" presetSubtype="0" accel="50000" decel="50000" fill="hold" grpId="17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4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1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8" fill="hold">
                            <p:stCondLst>
                              <p:cond delay="123000"/>
                            </p:stCondLst>
                            <p:childTnLst>
                              <p:par>
                                <p:cTn id="1449" presetID="35" presetClass="path" presetSubtype="0" accel="50000" decel="50000" fill="hold" grpId="17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5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1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4" fill="hold">
                            <p:stCondLst>
                              <p:cond delay="123500"/>
                            </p:stCondLst>
                            <p:childTnLst>
                              <p:par>
                                <p:cTn id="145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5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508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0" fill="hold">
                            <p:stCondLst>
                              <p:cond delay="124000"/>
                            </p:stCondLst>
                            <p:childTnLst>
                              <p:par>
                                <p:cTn id="1461" presetID="10" presetClass="exit" presetSubtype="0" fill="hold" grpId="18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2" dur="99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3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4" fill="hold">
                            <p:stCondLst>
                              <p:cond delay="124500"/>
                            </p:stCondLst>
                            <p:childTnLst>
                              <p:par>
                                <p:cTn id="146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03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6577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0" fill="hold">
                            <p:stCondLst>
                              <p:cond delay="125000"/>
                            </p:stCondLst>
                            <p:childTnLst>
                              <p:par>
                                <p:cTn id="147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0219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6" fill="hold">
                            <p:stCondLst>
                              <p:cond delay="125500"/>
                            </p:stCondLst>
                            <p:childTnLst>
                              <p:par>
                                <p:cTn id="147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04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2" fill="hold">
                            <p:stCondLst>
                              <p:cond delay="126000"/>
                            </p:stCondLst>
                            <p:childTnLst>
                              <p:par>
                                <p:cTn id="1483" presetID="35" presetClass="path" presetSubtype="0" accel="50000" decel="50000" fill="hold" grpId="18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8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04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8" fill="hold">
                            <p:stCondLst>
                              <p:cond delay="126500"/>
                            </p:stCondLst>
                            <p:childTnLst>
                              <p:par>
                                <p:cTn id="1489" presetID="35" presetClass="path" presetSubtype="0" accel="50000" decel="50000" fill="hold" grpId="18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0415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4" fill="hold">
                            <p:stCondLst>
                              <p:cond delay="127000"/>
                            </p:stCondLst>
                            <p:childTnLst>
                              <p:par>
                                <p:cTn id="149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9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04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508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0" fill="hold">
                            <p:stCondLst>
                              <p:cond delay="127500"/>
                            </p:stCondLst>
                            <p:childTnLst>
                              <p:par>
                                <p:cTn id="150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2" dur="99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3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4" fill="hold">
                            <p:stCondLst>
                              <p:cond delay="128000"/>
                            </p:stCondLst>
                            <p:childTnLst>
                              <p:par>
                                <p:cTn id="150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0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9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0" fill="hold">
                            <p:stCondLst>
                              <p:cond delay="128500"/>
                            </p:stCondLst>
                            <p:childTnLst>
                              <p:par>
                                <p:cTn id="151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01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66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6" fill="hold">
                            <p:stCondLst>
                              <p:cond delay="129000"/>
                            </p:stCondLst>
                            <p:childTnLst>
                              <p:par>
                                <p:cTn id="1517" presetID="35" presetClass="path" presetSubtype="0" accel="50000" decel="50000" fill="hold" grpId="19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01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2" fill="hold">
                            <p:stCondLst>
                              <p:cond delay="129500"/>
                            </p:stCondLst>
                            <p:childTnLst>
                              <p:par>
                                <p:cTn id="1523" presetID="35" presetClass="path" presetSubtype="0" accel="50000" decel="50000" fill="hold" grpId="19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01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4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8" fill="hold">
                            <p:stCondLst>
                              <p:cond delay="130000"/>
                            </p:stCondLst>
                            <p:childTnLst>
                              <p:par>
                                <p:cTn id="152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0144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5086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4" fill="hold">
                            <p:stCondLst>
                              <p:cond delay="130500"/>
                            </p:stCondLst>
                            <p:childTnLst>
                              <p:par>
                                <p:cTn id="153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6" dur="99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8" fill="hold">
                            <p:stCondLst>
                              <p:cond delay="131000"/>
                            </p:stCondLst>
                            <p:childTnLst>
                              <p:par>
                                <p:cTn id="153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4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9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6349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4" fill="hold">
                            <p:stCondLst>
                              <p:cond delay="131500"/>
                            </p:stCondLst>
                            <p:childTnLst>
                              <p:par>
                                <p:cTn id="1545" presetID="35" presetClass="path" presetSubtype="0" accel="50000" decel="50000" fill="hold" grpId="2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9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03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0" fill="hold">
                            <p:stCondLst>
                              <p:cond delay="132000"/>
                            </p:stCondLst>
                            <p:childTnLst>
                              <p:par>
                                <p:cTn id="1551" presetID="35" presetClass="path" presetSubtype="0" accel="50000" decel="50000" fill="hold" grpId="2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9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212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6" fill="hold">
                            <p:stCondLst>
                              <p:cond delay="132500"/>
                            </p:stCondLst>
                            <p:childTnLst>
                              <p:par>
                                <p:cTn id="155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5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94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67689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2" fill="hold">
                            <p:stCondLst>
                              <p:cond delay="133000"/>
                            </p:stCondLst>
                            <p:childTnLst>
                              <p:par>
                                <p:cTn id="156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4" dur="99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6" fill="hold">
                            <p:stCondLst>
                              <p:cond delay="133500"/>
                            </p:stCondLst>
                            <p:childTnLst>
                              <p:par>
                                <p:cTn id="1567" presetID="35" presetClass="path" presetSubtype="0" accel="50000" decel="50000" fill="hold" grpId="2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6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9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566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2" fill="hold">
                            <p:stCondLst>
                              <p:cond delay="134000"/>
                            </p:stCondLst>
                            <p:childTnLst>
                              <p:par>
                                <p:cTn id="1573" presetID="35" presetClass="path" presetSubtype="0" accel="50000" decel="50000" fill="hold" grpId="2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9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299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8" fill="hold">
                            <p:stCondLst>
                              <p:cond delay="134500"/>
                            </p:stCondLst>
                            <p:childTnLst>
                              <p:par>
                                <p:cTn id="157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8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94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941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4" fill="hold">
                            <p:stCondLst>
                              <p:cond delay="135000"/>
                            </p:stCondLst>
                            <p:childTnLst>
                              <p:par>
                                <p:cTn id="1585" presetID="10" presetClass="exit" presetSubtype="0" fill="hold" grpId="2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6" dur="99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8" fill="hold">
                            <p:stCondLst>
                              <p:cond delay="135500"/>
                            </p:stCondLst>
                            <p:childTnLst>
                              <p:par>
                                <p:cTn id="1589" presetID="35" presetClass="path" presetSubtype="0" accel="50000" decel="50000" fill="hold" grpId="2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9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60299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4" fill="hold">
                            <p:stCondLst>
                              <p:cond delay="136000"/>
                            </p:stCondLst>
                            <p:childTnLst>
                              <p:par>
                                <p:cTn id="159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9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94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941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0" fill="hold">
                            <p:stCondLst>
                              <p:cond delay="136500"/>
                            </p:stCondLst>
                            <p:childTnLst>
                              <p:par>
                                <p:cTn id="1601" presetID="10" presetClass="exit" presetSubtype="0" fill="hold" grpId="2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2" dur="99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3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4" fill="hold">
                            <p:stCondLst>
                              <p:cond delay="137000"/>
                            </p:stCondLst>
                            <p:childTnLst>
                              <p:par>
                                <p:cTn id="160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0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95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8793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0" fill="hold">
                            <p:stCondLst>
                              <p:cond delay="137500"/>
                            </p:stCondLst>
                            <p:childTnLst>
                              <p:par>
                                <p:cTn id="161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2" dur="99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3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4" fill="hold">
                            <p:stCondLst>
                              <p:cond delay="138000"/>
                            </p:stCondLst>
                            <p:childTnLst>
                              <p:par>
                                <p:cTn id="161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1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0" fill="hold">
                            <p:stCondLst>
                              <p:cond delay="139000"/>
                            </p:stCondLst>
                            <p:childTnLst>
                              <p:par>
                                <p:cTn id="1621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2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2" grpId="3"/>
      <p:bldP spid="2" grpId="4"/>
      <p:bldP spid="2" grpId="5"/>
      <p:bldP spid="2" grpId="6"/>
      <p:bldP spid="2" grpId="7"/>
      <p:bldP spid="2" grpId="8"/>
      <p:bldP spid="2" grpId="9"/>
      <p:bldP spid="2" grpId="10"/>
      <p:bldP spid="2" grpId="11"/>
      <p:bldP spid="2" grpId="12"/>
      <p:bldP spid="2" grpId="13"/>
      <p:bldP spid="2" grpId="14"/>
      <p:bldP spid="2" grpId="15"/>
      <p:bldP spid="2" grpId="16"/>
      <p:bldP spid="2" grpId="17"/>
      <p:bldP spid="2" grpId="18"/>
      <p:bldP spid="2" grpId="19"/>
      <p:bldP spid="2" grpId="20"/>
      <p:bldP spid="2" grpId="21"/>
      <p:bldP spid="2" grpId="22"/>
      <p:bldP spid="2" grpId="23"/>
      <p:bldP spid="2" grpId="24"/>
      <p:bldP spid="2" grpId="25"/>
      <p:bldP spid="6" grpId="0"/>
      <p:bldP spid="7" grpId="0"/>
      <p:bldP spid="8" grpId="0"/>
      <p:bldP spid="12" grpId="0"/>
      <p:bldP spid="13" grpId="0"/>
      <p:bldP spid="14" grpId="0"/>
      <p:bldP spid="18" grpId="0"/>
      <p:bldP spid="19" grpId="0"/>
      <p:bldP spid="20" grpId="0"/>
      <p:bldP spid="25" grpId="0"/>
      <p:bldP spid="26" grpId="0"/>
      <p:bldP spid="6" grpId="1"/>
      <p:bldP spid="7" grpId="1"/>
      <p:bldP spid="8" grpId="1"/>
      <p:bldP spid="12" grpId="1"/>
      <p:bldP spid="13" grpId="1"/>
      <p:bldP spid="14" grpId="1"/>
      <p:bldP spid="18" grpId="1"/>
      <p:bldP spid="19" grpId="1"/>
      <p:bldP spid="20" grpId="1"/>
      <p:bldP spid="25" grpId="1"/>
      <p:bldP spid="26" grpId="1"/>
      <p:bldP spid="6" grpId="2"/>
      <p:bldP spid="7" grpId="2"/>
      <p:bldP spid="8" grpId="2"/>
      <p:bldP spid="12" grpId="2"/>
      <p:bldP spid="13" grpId="2"/>
      <p:bldP spid="14" grpId="2"/>
      <p:bldP spid="18" grpId="2"/>
      <p:bldP spid="19" grpId="2"/>
      <p:bldP spid="20" grpId="2"/>
      <p:bldP spid="25" grpId="2"/>
      <p:bldP spid="26" grpId="2"/>
      <p:bldP spid="6" grpId="3"/>
      <p:bldP spid="7" grpId="3"/>
      <p:bldP spid="8" grpId="3"/>
      <p:bldP spid="12" grpId="3"/>
      <p:bldP spid="13" grpId="3"/>
      <p:bldP spid="14" grpId="3"/>
      <p:bldP spid="18" grpId="3"/>
      <p:bldP spid="19" grpId="3"/>
      <p:bldP spid="20" grpId="3"/>
      <p:bldP spid="25" grpId="3"/>
      <p:bldP spid="26" grpId="3"/>
      <p:bldP spid="6" grpId="4"/>
      <p:bldP spid="7" grpId="4"/>
      <p:bldP spid="8" grpId="4"/>
      <p:bldP spid="12" grpId="4"/>
      <p:bldP spid="13" grpId="4"/>
      <p:bldP spid="14" grpId="4"/>
      <p:bldP spid="18" grpId="4"/>
      <p:bldP spid="19" grpId="4"/>
      <p:bldP spid="20" grpId="4"/>
      <p:bldP spid="25" grpId="4"/>
      <p:bldP spid="26" grpId="4"/>
      <p:bldP spid="7" grpId="5"/>
      <p:bldP spid="8" grpId="5"/>
      <p:bldP spid="12" grpId="5"/>
      <p:bldP spid="13" grpId="5"/>
      <p:bldP spid="14" grpId="5"/>
      <p:bldP spid="18" grpId="5"/>
      <p:bldP spid="19" grpId="5"/>
      <p:bldP spid="20" grpId="5"/>
      <p:bldP spid="25" grpId="5"/>
      <p:bldP spid="26" grpId="5"/>
      <p:bldP spid="8" grpId="6"/>
      <p:bldP spid="12" grpId="6"/>
      <p:bldP spid="13" grpId="6"/>
      <p:bldP spid="14" grpId="6"/>
      <p:bldP spid="18" grpId="6"/>
      <p:bldP spid="19" grpId="6"/>
      <p:bldP spid="20" grpId="6"/>
      <p:bldP spid="25" grpId="6"/>
      <p:bldP spid="26" grpId="6"/>
      <p:bldP spid="12" grpId="7"/>
      <p:bldP spid="13" grpId="7"/>
      <p:bldP spid="14" grpId="7"/>
      <p:bldP spid="18" grpId="7"/>
      <p:bldP spid="19" grpId="7"/>
      <p:bldP spid="20" grpId="7"/>
      <p:bldP spid="25" grpId="7"/>
      <p:bldP spid="26" grpId="7"/>
      <p:bldP spid="12" grpId="8"/>
      <p:bldP spid="13" grpId="8"/>
      <p:bldP spid="14" grpId="8"/>
      <p:bldP spid="18" grpId="8"/>
      <p:bldP spid="19" grpId="8"/>
      <p:bldP spid="20" grpId="8"/>
      <p:bldP spid="25" grpId="8"/>
      <p:bldP spid="26" grpId="8"/>
      <p:bldP spid="12" grpId="9"/>
      <p:bldP spid="13" grpId="9"/>
      <p:bldP spid="14" grpId="9"/>
      <p:bldP spid="18" grpId="9"/>
      <p:bldP spid="19" grpId="9"/>
      <p:bldP spid="20" grpId="9"/>
      <p:bldP spid="25" grpId="9"/>
      <p:bldP spid="26" grpId="9"/>
      <p:bldP spid="12" grpId="10"/>
      <p:bldP spid="13" grpId="10"/>
      <p:bldP spid="14" grpId="10"/>
      <p:bldP spid="18" grpId="10"/>
      <p:bldP spid="19" grpId="10"/>
      <p:bldP spid="20" grpId="10"/>
      <p:bldP spid="25" grpId="10"/>
      <p:bldP spid="26" grpId="10"/>
      <p:bldP spid="13" grpId="11"/>
      <p:bldP spid="14" grpId="11"/>
      <p:bldP spid="18" grpId="11"/>
      <p:bldP spid="19" grpId="11"/>
      <p:bldP spid="20" grpId="11"/>
      <p:bldP spid="25" grpId="11"/>
      <p:bldP spid="26" grpId="11"/>
      <p:bldP spid="14" grpId="12"/>
      <p:bldP spid="18" grpId="12"/>
      <p:bldP spid="19" grpId="12"/>
      <p:bldP spid="20" grpId="12"/>
      <p:bldP spid="25" grpId="12"/>
      <p:bldP spid="26" grpId="12"/>
      <p:bldP spid="18" grpId="13"/>
      <p:bldP spid="19" grpId="13"/>
      <p:bldP spid="20" grpId="13"/>
      <p:bldP spid="25" grpId="13"/>
      <p:bldP spid="26" grpId="13"/>
      <p:bldP spid="18" grpId="14"/>
      <p:bldP spid="19" grpId="14"/>
      <p:bldP spid="20" grpId="14"/>
      <p:bldP spid="25" grpId="14"/>
      <p:bldP spid="26" grpId="14"/>
      <p:bldP spid="18" grpId="15"/>
      <p:bldP spid="19" grpId="15"/>
      <p:bldP spid="20" grpId="15"/>
      <p:bldP spid="25" grpId="15"/>
      <p:bldP spid="26" grpId="15"/>
      <p:bldP spid="18" grpId="16"/>
      <p:bldP spid="19" grpId="16"/>
      <p:bldP spid="20" grpId="16"/>
      <p:bldP spid="25" grpId="16"/>
      <p:bldP spid="26" grpId="16"/>
      <p:bldP spid="19" grpId="17"/>
      <p:bldP spid="20" grpId="17"/>
      <p:bldP spid="25" grpId="17"/>
      <p:bldP spid="26" grpId="17"/>
      <p:bldP spid="20" grpId="18"/>
      <p:bldP spid="25" grpId="18"/>
      <p:bldP spid="26" grpId="18"/>
      <p:bldP spid="25" grpId="19"/>
      <p:bldP spid="26" grpId="19"/>
      <p:bldP spid="25" grpId="20"/>
      <p:bldP spid="26" grpId="20"/>
      <p:bldP spid="25" grpId="21"/>
      <p:bldP spid="26" grpId="21"/>
      <p:bldP spid="25" grpId="22"/>
      <p:bldP spid="26" grpId="22"/>
      <p:bldP spid="26" grpId="23"/>
      <p:bldP spid="27" grpId="0"/>
      <p:bldP spid="27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</a:rPr>
              <a:t>核心代码实现 — 模块1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EA5E9"/>
                </a:solidFill>
              </a:rPr>
              <a:t>胥雯强 — 提取来源（extract_source）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5" name="Shape 3"/>
          <p:cNvSpPr/>
          <p:nvPr/>
        </p:nvSpPr>
        <p:spPr>
          <a:xfrm>
            <a:off x="457200" y="1209040"/>
            <a:ext cx="8229600" cy="3474720"/>
          </a:xfrm>
          <a:prstGeom prst="rect">
            <a:avLst/>
          </a:prstGeom>
          <a:solidFill>
            <a:srgbClr val="1E1E1E"/>
          </a:solidFill>
        </p:spPr>
        <p:txBody>
          <a:bodyPr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7863840" cy="3291840"/>
          </a:xfrm>
          <a:prstGeom prst="rect">
            <a:avLst/>
          </a:prstGeom>
          <a:noFill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re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extract_source(url):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"""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从URL中提取来源域名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参数: url - 新闻链接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返回: 域名字符串（小写）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"""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pattern = r'https?://(?:www\.)?([a-zA-Z0-9\-]+\.[a-zA-Z0-9\-\.]+)'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match = re.search(pattern, url)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match: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domain = match.group(1)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domain_key = domain.lower()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return domain_key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else: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return "未知域名"</a:t>
            </a:r>
            <a:endParaRPr lang="en-US" sz="1100" dirty="0"/>
          </a:p>
        </p:txBody>
      </p:sp>
      <p:sp>
        <p:nvSpPr>
          <p:cNvPr id="9" name="矩形 8"/>
          <p:cNvSpPr/>
          <p:nvPr/>
        </p:nvSpPr>
        <p:spPr>
          <a:xfrm>
            <a:off x="640080" y="1541145"/>
            <a:ext cx="2407285" cy="94932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 descr="人才招募令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979410" y="0"/>
            <a:ext cx="1164417" cy="66960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047365" y="1541145"/>
            <a:ext cx="2576195" cy="4006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定义一个名为 </a:t>
            </a:r>
            <a:r>
              <a:rPr lang="en-US" altLang="zh-CN" sz="1000"/>
              <a:t>extract_source </a:t>
            </a:r>
            <a:r>
              <a:rPr lang="zh-CN" altLang="en-US" sz="1000"/>
              <a:t>的函数，它接收一个参数 </a:t>
            </a:r>
            <a:r>
              <a:rPr lang="en-US" altLang="zh-CN" sz="1000"/>
              <a:t>url</a:t>
            </a:r>
            <a:r>
              <a:rPr lang="zh-CN" altLang="en-US" sz="1000"/>
              <a:t>，函数功能的说明文字</a:t>
            </a:r>
            <a:endParaRPr lang="zh-CN" altLang="en-US" sz="1000"/>
          </a:p>
        </p:txBody>
      </p:sp>
      <p:sp>
        <p:nvSpPr>
          <p:cNvPr id="11" name="矩形 10"/>
          <p:cNvSpPr/>
          <p:nvPr/>
        </p:nvSpPr>
        <p:spPr>
          <a:xfrm>
            <a:off x="833120" y="2758440"/>
            <a:ext cx="2677795" cy="118935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510915" y="2758440"/>
            <a:ext cx="2113280" cy="4032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从 </a:t>
            </a:r>
            <a:r>
              <a:rPr lang="en-US" altLang="zh-CN" sz="1000"/>
              <a:t>URL </a:t>
            </a:r>
            <a:r>
              <a:rPr lang="zh-CN" altLang="en-US" sz="1000"/>
              <a:t>中提取出域名（小写形式），若提取失败则返回“未知域名”</a:t>
            </a:r>
            <a:endParaRPr lang="zh-CN" altLang="en-US" sz="1000"/>
          </a:p>
        </p:txBody>
      </p:sp>
      <p:sp>
        <p:nvSpPr>
          <p:cNvPr id="13" name="文本框 12"/>
          <p:cNvSpPr txBox="1"/>
          <p:nvPr/>
        </p:nvSpPr>
        <p:spPr>
          <a:xfrm>
            <a:off x="4667885" y="292227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14:rippl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</a:rPr>
              <a:t>核心代码实现 — 模块2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600" dirty="0">
                <a:solidFill>
                  <a:srgbClr val="0EA5E9"/>
                </a:solidFill>
              </a:rPr>
              <a:t>麦兰月</a:t>
            </a:r>
            <a:r>
              <a:rPr lang="en-US" sz="1600" dirty="0">
                <a:solidFill>
                  <a:srgbClr val="0EA5E9"/>
                </a:solidFill>
              </a:rPr>
              <a:t> — 关键词高亮（highlight_keywords）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5" name="Shape 3"/>
          <p:cNvSpPr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solidFill>
            <a:srgbClr val="1E1E1E"/>
          </a:solidFill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291840"/>
          </a:xfrm>
          <a:prstGeom prst="rect">
            <a:avLst/>
          </a:prstGeom>
          <a:noFill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highlight_keywords(text: str) -&gt; str: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"""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高亮新闻标题中的指定热词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参数: text - 原始标题文本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返回: 高亮后的标题（Markdown加粗格式）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"""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keywords = ['AI', '英伟达', '马斯克', 'GPT',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'黄仁勋', 'OpenAI', '谷歌',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'特斯拉', '比亚迪', '芯片',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'融资', 'IPO', 'Agent']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pattern = re.compile(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r'\b(' + '|'.join(re.escape(k) for k in keywords) + r')\b',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re.IGNORECASE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将匹配到的关键词用Markdown加粗语法包裹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pattern.sub(r'**\1**', text)</a:t>
            </a:r>
            <a:endParaRPr lang="en-US" sz="1100" dirty="0"/>
          </a:p>
        </p:txBody>
      </p:sp>
      <p:pic>
        <p:nvPicPr>
          <p:cNvPr id="16" name="图片 15" descr="人才招募令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976870" y="0"/>
            <a:ext cx="1167130" cy="67119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40080" y="1234440"/>
            <a:ext cx="3310255" cy="92392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950335" y="1234440"/>
            <a:ext cx="2122170" cy="2838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定义了一个名为 </a:t>
            </a:r>
            <a:r>
              <a:rPr lang="en-US" altLang="zh-CN" sz="1000"/>
              <a:t>highlight_keywords </a:t>
            </a:r>
            <a:r>
              <a:rPr lang="zh-CN" altLang="en-US" sz="1000"/>
              <a:t>的函数框架，附带文档注释</a:t>
            </a:r>
            <a:endParaRPr lang="zh-CN" altLang="en-US" sz="1000"/>
          </a:p>
        </p:txBody>
      </p:sp>
      <p:sp>
        <p:nvSpPr>
          <p:cNvPr id="10" name="矩形 9"/>
          <p:cNvSpPr/>
          <p:nvPr/>
        </p:nvSpPr>
        <p:spPr>
          <a:xfrm>
            <a:off x="979170" y="2173605"/>
            <a:ext cx="3480435" cy="78867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459605" y="2173605"/>
            <a:ext cx="1427480" cy="25527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指定热词列表</a:t>
            </a:r>
            <a:endParaRPr lang="zh-CN" altLang="en-US" sz="1000"/>
          </a:p>
        </p:txBody>
      </p:sp>
      <p:sp>
        <p:nvSpPr>
          <p:cNvPr id="13" name="矩形 12"/>
          <p:cNvSpPr/>
          <p:nvPr/>
        </p:nvSpPr>
        <p:spPr>
          <a:xfrm>
            <a:off x="902970" y="3094990"/>
            <a:ext cx="4907915" cy="67818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810885" y="3094990"/>
            <a:ext cx="2486660" cy="5187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编译一个不区分大小写的正则表达式，用于匹配“由单词边界开头、之后是指定关键词、最后紧跟 .</a:t>
            </a:r>
            <a:r>
              <a:rPr lang="en-US" altLang="zh-CN" sz="1000"/>
              <a:t>b </a:t>
            </a:r>
            <a:r>
              <a:rPr lang="zh-CN" altLang="en-US" sz="1000"/>
              <a:t>字面字符”的字符串</a:t>
            </a:r>
            <a:endParaRPr lang="zh-CN" alt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</a:rPr>
              <a:t>核心代码实现 — 模块3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600" dirty="0">
                <a:solidFill>
                  <a:srgbClr val="0EA5E9"/>
                </a:solidFill>
              </a:rPr>
              <a:t>廖志兵</a:t>
            </a:r>
            <a:r>
              <a:rPr lang="en-US" sz="1600" dirty="0">
                <a:solidFill>
                  <a:srgbClr val="0EA5E9"/>
                </a:solidFill>
              </a:rPr>
              <a:t> — 格式化输出（format_articles）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5" name="Shape 3"/>
          <p:cNvSpPr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solidFill>
            <a:srgbClr val="1E1E1E"/>
          </a:solidFill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4421505"/>
          </a:xfrm>
          <a:prstGeom prst="rect">
            <a:avLst/>
          </a:prstGeom>
          <a:noFill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format_articles(article_list: list) -&gt; str: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"""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将新闻列表格式化为Markdown排行榜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参数: article_list - 新闻字典列表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返回: 格式化后的Markdown文本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"""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icons = ["🥇", "🥈", "🥉", "4️⃣", "5️⃣", 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"6️⃣", "7️⃣", "8️⃣", "9️⃣", "🔟"]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article_list = article_list[:10]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total = len(article_list)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sources = len(set(item["source"] for item in article_list))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markdown = f"# 🔥 科技新闻热点榜单\n\n"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markdown += f"📊 共 {total} 条 | 来自 {sources} 个平台\n\n---\n"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for idx, item in enumerate(article_list):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icon = icons[idx]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rank_num = idx + 1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bold_title = highlight_keywords(item["title"])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link_url = item["url"]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source_name = item["source"]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return markdown</a:t>
            </a:r>
            <a:endParaRPr lang="en-US" sz="100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pic>
        <p:nvPicPr>
          <p:cNvPr id="30" name="图片 29" descr="人才招募令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980045" y="0"/>
            <a:ext cx="1164244" cy="6696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30225" y="1234440"/>
            <a:ext cx="3489325" cy="86360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019550" y="1219835"/>
            <a:ext cx="2098040" cy="4222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定义了一个名为 </a:t>
            </a:r>
            <a:r>
              <a:rPr lang="en-US" altLang="zh-CN" sz="1000"/>
              <a:t>format_articles </a:t>
            </a:r>
            <a:r>
              <a:rPr lang="zh-CN" altLang="en-US" sz="1000"/>
              <a:t>的函数框架，配有文档注释说明</a:t>
            </a:r>
            <a:endParaRPr lang="zh-CN" altLang="en-US" sz="1000"/>
          </a:p>
        </p:txBody>
      </p:sp>
      <p:sp>
        <p:nvSpPr>
          <p:cNvPr id="9" name="矩形 8"/>
          <p:cNvSpPr/>
          <p:nvPr/>
        </p:nvSpPr>
        <p:spPr>
          <a:xfrm>
            <a:off x="871220" y="2592070"/>
            <a:ext cx="4313555" cy="57086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184775" y="2569210"/>
            <a:ext cx="1543050" cy="4006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限制展示数量（最多10条），记录实际文章数，记录来源的多样性</a:t>
            </a:r>
            <a:endParaRPr lang="zh-CN" altLang="en-US" sz="1000"/>
          </a:p>
        </p:txBody>
      </p:sp>
      <p:sp>
        <p:nvSpPr>
          <p:cNvPr id="11" name="矩形 10"/>
          <p:cNvSpPr/>
          <p:nvPr/>
        </p:nvSpPr>
        <p:spPr>
          <a:xfrm>
            <a:off x="924560" y="3364230"/>
            <a:ext cx="4439920" cy="120777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364480" y="3364230"/>
            <a:ext cx="2222500" cy="5003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往 </a:t>
            </a:r>
            <a:r>
              <a:rPr lang="en-US" altLang="zh-CN" sz="1000"/>
              <a:t>markdown </a:t>
            </a:r>
            <a:r>
              <a:rPr lang="zh-CN" altLang="en-US" sz="1000"/>
              <a:t>字符串中加入统计信息，然后遍历新闻列表取出每条数据，最后返回不完整的 </a:t>
            </a:r>
            <a:r>
              <a:rPr lang="en-US" altLang="zh-CN" sz="1000"/>
              <a:t>markdown </a:t>
            </a:r>
            <a:r>
              <a:rPr lang="zh-CN" altLang="en-US" sz="1000"/>
              <a:t>内容。</a:t>
            </a:r>
            <a:endParaRPr lang="zh-CN" alt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6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部署与运行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914400" cy="32004"/>
          </a:xfrm>
          <a:prstGeom prst="rect">
            <a:avLst/>
          </a:prstGeom>
          <a:solidFill>
            <a:srgbClr val="2D8659"/>
          </a:solidFill>
        </p:spPr>
      </p:sp>
      <p:sp>
        <p:nvSpPr>
          <p:cNvPr id="4" name="Text 2"/>
          <p:cNvSpPr/>
          <p:nvPr/>
        </p:nvSpPr>
        <p:spPr>
          <a:xfrm>
            <a:off x="548640" y="109728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36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Docker 容器化部署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36192"/>
            <a:ext cx="4206240" cy="2651760"/>
          </a:xfrm>
          <a:prstGeom prst="roundRect">
            <a:avLst>
              <a:gd name="adj" fmla="val 2759"/>
            </a:avLst>
          </a:prstGeom>
          <a:solidFill>
            <a:srgbClr val="263238"/>
          </a:solidFill>
        </p:spPr>
      </p:sp>
      <p:sp>
        <p:nvSpPr>
          <p:cNvPr id="6" name="Text 4"/>
          <p:cNvSpPr/>
          <p:nvPr/>
        </p:nvSpPr>
        <p:spPr>
          <a:xfrm>
            <a:off x="731520" y="1664208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909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docker-compose.yml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1371600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1D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dify-web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94560" y="2011680"/>
            <a:ext cx="1005840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:80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2011680"/>
            <a:ext cx="1371600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前端界面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2404872"/>
            <a:ext cx="1371600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1D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dify-api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94560" y="2404872"/>
            <a:ext cx="1005840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:5000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0" y="2404872"/>
            <a:ext cx="1371600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后端API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2798064"/>
            <a:ext cx="1371600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1D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nginx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94560" y="2798064"/>
            <a:ext cx="1005840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:443/80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2798064"/>
            <a:ext cx="1371600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反向代理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" y="3191256"/>
            <a:ext cx="1371600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1D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redis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94560" y="3191256"/>
            <a:ext cx="1005840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:6379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3191256"/>
            <a:ext cx="1371600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缓存存储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77240" y="3584448"/>
            <a:ext cx="1371600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1D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postgres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94560" y="3584448"/>
            <a:ext cx="1005840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:5432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3584448"/>
            <a:ext cx="1371600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1520" y="3886200"/>
            <a:ext cx="3840480" cy="384048"/>
          </a:xfrm>
          <a:prstGeom prst="roundRect">
            <a:avLst>
              <a:gd name="adj" fmla="val 9524"/>
            </a:avLst>
          </a:prstGeom>
          <a:solidFill>
            <a:srgbClr val="1B2631"/>
          </a:solidFill>
        </p:spPr>
      </p:sp>
      <p:sp>
        <p:nvSpPr>
          <p:cNvPr id="23" name="Text 21"/>
          <p:cNvSpPr/>
          <p:nvPr/>
        </p:nvSpPr>
        <p:spPr>
          <a:xfrm>
            <a:off x="868680" y="3922776"/>
            <a:ext cx="35661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docker-compose up -d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109728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36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为什么用 Docker？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029200" y="1572768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86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一键部署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0" y="1865376"/>
            <a:ext cx="384048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一条命令启动全部服务，不用逐个装依赖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0" y="2414016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86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环境一致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2706624"/>
            <a:ext cx="384048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开发环境和生产环境完全一样，避免"在我机器上能跑"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0" y="3255264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86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故障自愈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0" y="3547872"/>
            <a:ext cx="384048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设置 restart: always，崩溃后自动重启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29200" y="4096512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86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方便迁移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0" y="4389120"/>
            <a:ext cx="384048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换台服务器只要拷贝 compose 文件就行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</a:rPr>
              <a:t>10</a:t>
            </a:r>
            <a:endParaRPr lang="en-US" sz="900" dirty="0"/>
          </a:p>
        </p:txBody>
      </p:sp>
      <p:pic>
        <p:nvPicPr>
          <p:cNvPr id="34" name="图片 33" descr="人才招募令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980045" y="0"/>
            <a:ext cx="1164244" cy="66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6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效果展示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914400" cy="32004"/>
          </a:xfrm>
          <a:prstGeom prst="rect">
            <a:avLst/>
          </a:prstGeom>
          <a:solidFill>
            <a:srgbClr val="2D8659"/>
          </a:solidFill>
        </p:spPr>
      </p:sp>
      <p:sp>
        <p:nvSpPr>
          <p:cNvPr id="4" name="Text 2"/>
          <p:cNvSpPr/>
          <p:nvPr/>
        </p:nvSpPr>
        <p:spPr>
          <a:xfrm>
            <a:off x="548640" y="1051560"/>
            <a:ext cx="4572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6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企业微信实际推送效果（截图）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693920" y="1097280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6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实际使用中的特点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68570" y="1581912"/>
            <a:ext cx="201168" cy="201168"/>
          </a:xfrm>
          <a:prstGeom prst="ellipse">
            <a:avLst/>
          </a:prstGeom>
          <a:solidFill>
            <a:srgbClr val="2D8659"/>
          </a:solidFill>
        </p:spPr>
      </p:sp>
      <p:sp>
        <p:nvSpPr>
          <p:cNvPr id="8" name="Text 5"/>
          <p:cNvSpPr/>
          <p:nvPr>
            <p:custDataLst>
              <p:tags r:id="rId1"/>
            </p:custDataLst>
          </p:nvPr>
        </p:nvSpPr>
        <p:spPr>
          <a:xfrm>
            <a:off x="5361178" y="1536192"/>
            <a:ext cx="10972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准时</a:t>
            </a:r>
            <a:endParaRPr lang="en-US" sz="1250" dirty="0"/>
          </a:p>
        </p:txBody>
      </p:sp>
      <p:sp>
        <p:nvSpPr>
          <p:cNvPr id="9" name="Text 6"/>
          <p:cNvSpPr/>
          <p:nvPr>
            <p:custDataLst>
              <p:tags r:id="rId2"/>
            </p:custDataLst>
          </p:nvPr>
        </p:nvSpPr>
        <p:spPr>
          <a:xfrm>
            <a:off x="5361178" y="182880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到点就推，不用人盯着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68570" y="2249424"/>
            <a:ext cx="201168" cy="201168"/>
          </a:xfrm>
          <a:prstGeom prst="ellipse">
            <a:avLst/>
          </a:prstGeom>
          <a:solidFill>
            <a:srgbClr val="2D8659"/>
          </a:solidFill>
        </p:spPr>
      </p:sp>
      <p:sp>
        <p:nvSpPr>
          <p:cNvPr id="11" name="Text 8"/>
          <p:cNvSpPr/>
          <p:nvPr>
            <p:custDataLst>
              <p:tags r:id="rId3"/>
            </p:custDataLst>
          </p:nvPr>
        </p:nvSpPr>
        <p:spPr>
          <a:xfrm>
            <a:off x="5361178" y="2203704"/>
            <a:ext cx="10972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格式整齐</a:t>
            </a:r>
            <a:endParaRPr lang="en-US" sz="1250" dirty="0"/>
          </a:p>
        </p:txBody>
      </p:sp>
      <p:sp>
        <p:nvSpPr>
          <p:cNvPr id="12" name="Text 9"/>
          <p:cNvSpPr/>
          <p:nvPr>
            <p:custDataLst>
              <p:tags r:id="rId4"/>
            </p:custDataLst>
          </p:nvPr>
        </p:nvSpPr>
        <p:spPr>
          <a:xfrm>
            <a:off x="5361178" y="2496312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Markdown渲染，比纯文字好看多了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68570" y="2916936"/>
            <a:ext cx="201168" cy="201168"/>
          </a:xfrm>
          <a:prstGeom prst="ellipse">
            <a:avLst/>
          </a:prstGeom>
          <a:solidFill>
            <a:srgbClr val="2D8659"/>
          </a:solidFill>
        </p:spPr>
      </p:sp>
      <p:sp>
        <p:nvSpPr>
          <p:cNvPr id="14" name="Text 11"/>
          <p:cNvSpPr/>
          <p:nvPr>
            <p:custDataLst>
              <p:tags r:id="rId5"/>
            </p:custDataLst>
          </p:nvPr>
        </p:nvSpPr>
        <p:spPr>
          <a:xfrm>
            <a:off x="5361178" y="2871216"/>
            <a:ext cx="10972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可追溯</a:t>
            </a:r>
            <a:endParaRPr lang="en-US" sz="1250" dirty="0"/>
          </a:p>
        </p:txBody>
      </p:sp>
      <p:sp>
        <p:nvSpPr>
          <p:cNvPr id="15" name="Text 12"/>
          <p:cNvSpPr/>
          <p:nvPr>
            <p:custDataLst>
              <p:tags r:id="rId6"/>
            </p:custDataLst>
          </p:nvPr>
        </p:nvSpPr>
        <p:spPr>
          <a:xfrm>
            <a:off x="5361178" y="3163824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Dify后台有每次执行的日志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68570" y="3584448"/>
            <a:ext cx="201168" cy="201168"/>
          </a:xfrm>
          <a:prstGeom prst="ellipse">
            <a:avLst/>
          </a:prstGeom>
          <a:solidFill>
            <a:srgbClr val="2D8659"/>
          </a:solidFill>
        </p:spPr>
      </p:sp>
      <p:sp>
        <p:nvSpPr>
          <p:cNvPr id="17" name="Text 14"/>
          <p:cNvSpPr/>
          <p:nvPr>
            <p:custDataLst>
              <p:tags r:id="rId7"/>
            </p:custDataLst>
          </p:nvPr>
        </p:nvSpPr>
        <p:spPr>
          <a:xfrm>
            <a:off x="5361178" y="3538728"/>
            <a:ext cx="10972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可配置</a:t>
            </a:r>
            <a:endParaRPr lang="en-US" sz="1250" dirty="0"/>
          </a:p>
        </p:txBody>
      </p:sp>
      <p:sp>
        <p:nvSpPr>
          <p:cNvPr id="18" name="Text 15"/>
          <p:cNvSpPr/>
          <p:nvPr>
            <p:custDataLst>
              <p:tags r:id="rId8"/>
            </p:custDataLst>
          </p:nvPr>
        </p:nvSpPr>
        <p:spPr>
          <a:xfrm>
            <a:off x="5361178" y="3831336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改个CRON表达式就能调整时间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068570" y="4251960"/>
            <a:ext cx="201168" cy="201168"/>
          </a:xfrm>
          <a:prstGeom prst="ellipse">
            <a:avLst/>
          </a:prstGeom>
          <a:solidFill>
            <a:srgbClr val="2D8659"/>
          </a:solidFill>
        </p:spPr>
      </p:sp>
      <p:sp>
        <p:nvSpPr>
          <p:cNvPr id="20" name="Text 17"/>
          <p:cNvSpPr/>
          <p:nvPr>
            <p:custDataLst>
              <p:tags r:id="rId9"/>
            </p:custDataLst>
          </p:nvPr>
        </p:nvSpPr>
        <p:spPr>
          <a:xfrm>
            <a:off x="5361178" y="4206240"/>
            <a:ext cx="10972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稳定</a:t>
            </a:r>
            <a:endParaRPr lang="en-US" sz="1250" dirty="0"/>
          </a:p>
        </p:txBody>
      </p:sp>
      <p:sp>
        <p:nvSpPr>
          <p:cNvPr id="21" name="Text 18"/>
          <p:cNvSpPr/>
          <p:nvPr>
            <p:custDataLst>
              <p:tags r:id="rId10"/>
            </p:custDataLst>
          </p:nvPr>
        </p:nvSpPr>
        <p:spPr>
          <a:xfrm>
            <a:off x="5361178" y="4498848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Docker</a:t>
            </a:r>
            <a:r>
              <a:rPr lang="zh-CN" altLang="en-US" sz="110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从运行至今</a:t>
            </a:r>
            <a:r>
              <a:rPr lang="en-US" sz="110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跑</a:t>
            </a:r>
            <a:r>
              <a:rPr lang="zh-CN" altLang="en-US" sz="110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了</a:t>
            </a:r>
            <a:r>
              <a:rPr lang="en-US" sz="110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没挂过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/>
              <a:t>11</a:t>
            </a:r>
            <a:endParaRPr lang="en-US" sz="900" dirty="0"/>
          </a:p>
        </p:txBody>
      </p:sp>
      <p:pic>
        <p:nvPicPr>
          <p:cNvPr id="23" name="图片 22" descr="人才招募令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979410" y="0"/>
            <a:ext cx="1164417" cy="66960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3"/>
          <a:srcRect l="5761" t="6262" r="11581" b="8643"/>
          <a:stretch>
            <a:fillRect/>
          </a:stretch>
        </p:blipFill>
        <p:spPr>
          <a:xfrm>
            <a:off x="698500" y="1398270"/>
            <a:ext cx="2332990" cy="36582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731520" cy="36576"/>
          </a:xfrm>
          <a:prstGeom prst="rect">
            <a:avLst/>
          </a:prstGeom>
          <a:solidFill>
            <a:srgbClr val="2D8659"/>
          </a:solidFill>
        </p:spPr>
      </p:sp>
      <p:sp>
        <p:nvSpPr>
          <p:cNvPr id="4" name="Text 2"/>
          <p:cNvSpPr/>
          <p:nvPr/>
        </p:nvSpPr>
        <p:spPr>
          <a:xfrm>
            <a:off x="548640" y="1325880"/>
            <a:ext cx="4114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86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做了什么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719072"/>
            <a:ext cx="42062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D8D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用 Dify 可视化搭建了完整的新闻采集工作流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2157984"/>
            <a:ext cx="42062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D8D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通过</a:t>
            </a:r>
            <a:r>
              <a:rPr lang="en-US" sz="1250" dirty="0">
                <a:solidFill>
                  <a:srgbClr val="CFD8D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firecrawl节点抓取网页，Python 节点处理数据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596896"/>
            <a:ext cx="42062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D8D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对接企业微信 Webhook 实现自动群推送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3035808"/>
            <a:ext cx="42062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D8D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用 Docker Compose 编排全部服务并长期运行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937760" y="1127760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创新点</a:t>
            </a:r>
            <a:endParaRPr 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98720" y="1429512"/>
            <a:ext cx="374904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</a:t>
            </a:r>
            <a:r>
              <a:rPr lang="zh-CN" altLang="en-US" sz="1200" b="1" dirty="0">
                <a:solidFill>
                  <a:srgbClr val="B0B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智能关键词自动高亮</a:t>
            </a:r>
            <a:r>
              <a:rPr lang="en-US" sz="1200" dirty="0">
                <a:solidFill>
                  <a:srgbClr val="B0B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zh-CN" altLang="en-US" sz="1200" dirty="0">
              <a:solidFill>
                <a:srgbClr val="B0BEC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98720" y="1701673"/>
            <a:ext cx="374904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</a:t>
            </a:r>
            <a:r>
              <a:rPr lang="en-US" sz="1200" b="1" dirty="0">
                <a:solidFill>
                  <a:srgbClr val="B0B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altLang="en-US" sz="1200" b="1" dirty="0">
                <a:solidFill>
                  <a:srgbClr val="B0B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新闻热度星级可视化</a:t>
            </a:r>
            <a:r>
              <a:rPr lang="en-US" altLang="zh-CN" sz="1200" b="1" dirty="0">
                <a:solidFill>
                  <a:srgbClr val="B0B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altLang="zh-CN" sz="1200" dirty="0">
                <a:solidFill>
                  <a:srgbClr val="B0B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altLang="en-US" sz="1200" dirty="0">
                <a:solidFill>
                  <a:srgbClr val="B0B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通过标题智能计算热度，自动生成 ⭐ 星级展示，直观区分新闻火爆程度</a:t>
            </a:r>
            <a:endParaRPr lang="zh-CN" altLang="en-US" sz="1200" dirty="0">
              <a:solidFill>
                <a:srgbClr val="B0BEC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98720" y="2232279"/>
            <a:ext cx="374904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</a:t>
            </a:r>
            <a:r>
              <a:rPr lang="zh-CN" altLang="en-US" sz="1200" b="1" dirty="0">
                <a:solidFill>
                  <a:srgbClr val="B0B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关键词高亮</a:t>
            </a:r>
            <a:r>
              <a:rPr lang="zh-CN" altLang="en-US" sz="1200" dirty="0">
                <a:solidFill>
                  <a:srgbClr val="B0B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点击关键词即可进入网页，而并非单一展示网址</a:t>
            </a:r>
            <a:r>
              <a:rPr lang="en-US" altLang="zh-CN" sz="1200" dirty="0">
                <a:solidFill>
                  <a:srgbClr val="B0B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altLang="zh-CN" sz="1200" dirty="0">
              <a:solidFill>
                <a:srgbClr val="B0BEC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8046720" cy="1097280"/>
          </a:xfrm>
          <a:prstGeom prst="roundRect">
            <a:avLst>
              <a:gd name="adj" fmla="val 6667"/>
            </a:avLst>
          </a:prstGeom>
          <a:solidFill>
            <a:srgbClr val="233142"/>
          </a:solidFill>
        </p:spPr>
      </p:sp>
      <p:sp>
        <p:nvSpPr>
          <p:cNvPr id="14" name="Text 12"/>
          <p:cNvSpPr/>
          <p:nvPr/>
        </p:nvSpPr>
        <p:spPr>
          <a:xfrm>
            <a:off x="777240" y="3785616"/>
            <a:ext cx="27432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86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后续可以改进的方向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114800"/>
            <a:ext cx="7589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接入更多新闻源  ·  加 AI 自动摘要功能  ·  支持用户自定义关键词过滤  ·  做成多</a:t>
            </a:r>
            <a:r>
              <a:rPr lang="zh-CN" altLang="en-US" sz="1200" dirty="0">
                <a:solidFill>
                  <a:srgbClr val="90A4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</a:t>
            </a:r>
            <a:r>
              <a:rPr lang="en-US" sz="1200" dirty="0">
                <a:solidFill>
                  <a:srgbClr val="90A4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感谢各位老师聆听  欢迎提问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/>
              <a:t>12</a:t>
            </a:r>
            <a:endParaRPr lang="en-US" sz="900" dirty="0"/>
          </a:p>
        </p:txBody>
      </p:sp>
      <p:pic>
        <p:nvPicPr>
          <p:cNvPr id="18" name="图片 17" descr="人才招募令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979410" y="0"/>
            <a:ext cx="1164417" cy="669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4988560" y="2656459"/>
            <a:ext cx="374904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 </a:t>
            </a:r>
            <a:r>
              <a:rPr lang="zh-CN" altLang="en-US" sz="1200" b="1" dirty="0">
                <a:solidFill>
                  <a:srgbClr val="B0B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网页失效智能过滤</a:t>
            </a:r>
            <a:r>
              <a:rPr lang="en-US" altLang="zh-CN" sz="1200" b="1" dirty="0">
                <a:solidFill>
                  <a:srgbClr val="B0B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</a:t>
            </a:r>
            <a:r>
              <a:rPr lang="zh-CN" altLang="en-US" sz="1200" dirty="0">
                <a:solidFill>
                  <a:srgbClr val="B0B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自动识别404、网页解析失败、权限受限等无效链接，自动过滤不展示</a:t>
            </a:r>
            <a:endParaRPr lang="en-US" altLang="zh-CN" sz="1200" dirty="0">
              <a:solidFill>
                <a:srgbClr val="B0BEC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4986020" y="3080639"/>
            <a:ext cx="374904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</a:t>
            </a:r>
            <a:r>
              <a:rPr lang="en-US" sz="1200" b="1" dirty="0">
                <a:solidFill>
                  <a:srgbClr val="B0B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altLang="en-US" sz="1200" b="1" dirty="0">
                <a:solidFill>
                  <a:srgbClr val="B0B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按热度智能自动排序</a:t>
            </a:r>
            <a:r>
              <a:rPr lang="en-US" altLang="zh-CN" sz="1200" b="1" dirty="0">
                <a:solidFill>
                  <a:srgbClr val="B0B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altLang="en-US" sz="1200" dirty="0">
                <a:solidFill>
                  <a:srgbClr val="B0B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系统自动根据新闻热度高低重新排名</a:t>
            </a:r>
            <a:endParaRPr lang="zh-CN" altLang="en-US" sz="1200" dirty="0">
              <a:solidFill>
                <a:srgbClr val="B0BEC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4" name="Shape 2"/>
          <p:cNvSpPr/>
          <p:nvPr/>
        </p:nvSpPr>
        <p:spPr>
          <a:xfrm>
            <a:off x="3840480" y="2194560"/>
            <a:ext cx="1463040" cy="36576"/>
          </a:xfrm>
          <a:prstGeom prst="rect">
            <a:avLst/>
          </a:prstGeom>
          <a:solidFill>
            <a:srgbClr val="2D8659"/>
          </a:solidFill>
        </p:spPr>
      </p:sp>
      <p:sp>
        <p:nvSpPr>
          <p:cNvPr id="5" name="Text 3"/>
          <p:cNvSpPr/>
          <p:nvPr/>
        </p:nvSpPr>
        <p:spPr>
          <a:xfrm>
            <a:off x="0" y="256032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0B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恳请老师批评指正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324612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89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感谢老师的悉心指导与帮助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402336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六神无组  ·  2026年5月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</a:rPr>
              <a:t>13</a:t>
            </a:r>
            <a:endParaRPr lang="en-US" sz="900" dirty="0"/>
          </a:p>
        </p:txBody>
      </p:sp>
      <p:pic>
        <p:nvPicPr>
          <p:cNvPr id="9" name="图片 8" descr="新对话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4100" y="163830"/>
            <a:ext cx="3535045" cy="1985010"/>
          </a:xfrm>
          <a:prstGeom prst="rect">
            <a:avLst/>
          </a:prstGeom>
        </p:spPr>
      </p:pic>
      <p:sp>
        <p:nvSpPr>
          <p:cNvPr id="10" name="矩形 9" descr="7b0a2020202022776f7264617274223a2022220a7d0a"/>
          <p:cNvSpPr/>
          <p:nvPr>
            <p:custDataLst>
              <p:tags r:id="rId2"/>
            </p:custDataLst>
          </p:nvPr>
        </p:nvSpPr>
        <p:spPr>
          <a:xfrm>
            <a:off x="3564890" y="1424305"/>
            <a:ext cx="2014855" cy="770255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r>
              <a:rPr lang="zh-CN" altLang="en-US" sz="4400" spc="1000">
                <a:solidFill>
                  <a:schemeClr val="tx1"/>
                </a:solidFill>
                <a:effectLst/>
                <a:latin typeface="字魂馆藏山海经体" panose="00000500000000000000" charset="-122"/>
                <a:ea typeface="字魂馆藏山海经体" panose="00000500000000000000" charset="-122"/>
              </a:rPr>
              <a:t>致谢</a:t>
            </a:r>
            <a:endParaRPr lang="zh-CN" altLang="en-US" sz="44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>
</file>

<file path=ppt/tags/tag1.xml><?xml version="1.0" encoding="utf-8"?>
<p:tagLst xmlns:p="http://schemas.openxmlformats.org/presentationml/2006/main">
  <p:tag name="aiwordart" val="{&quot;id&quot;:&quot;12934973997_1779430310050&quot;,&quot;md5&quot;:&quot;0e76a5ae7af8ab90cc26b236fde7d4d1&quot;}"/>
  <p:tag name="KSO_DOCER_RESOURCE_TRACE_INFO" val="{&quot;id&quot;:&quot;12934973997_1779430310050&quot;,&quot;origin&quot;:0,&quot;type&quot;:&quot;pictures&quot;,&quot;user&quot;:&quot;1581052606&quot;}"/>
</p:tagLst>
</file>

<file path=ppt/tags/tag2.xml><?xml version="1.0" encoding="utf-8"?>
<p:tagLst xmlns:p="http://schemas.openxmlformats.org/presentationml/2006/main">
  <p:tag name="aiwordart" val="{&quot;id&quot;:&quot;12934973997_1779430310050&quot;,&quot;md5&quot;:&quot;0e76a5ae7af8ab90cc26b236fde7d4d1&quot;}"/>
  <p:tag name="KSO_DOCER_RESOURCE_TRACE_INFO" val="{&quot;id&quot;:&quot;12934973997_1779430310050&quot;,&quot;origin&quot;:0,&quot;type&quot;:&quot;pictures&quot;,&quot;user&quot;:&quot;1581052606&quot;}"/>
</p:tagLst>
</file>

<file path=ppt/tags/tag3.xml><?xml version="1.0" encoding="utf-8"?>
<p:tagLst xmlns:p="http://schemas.openxmlformats.org/presentationml/2006/main">
  <p:tag name="KSO_DOCER_RESOURCE_TRACE_INFO" val="{&quot;id&quot;:&quot;50062362&quot;,&quot;origin&quot;:0,&quot;type&quot;:&quot;icons&quot;,&quot;user&quot;:&quot;1581052606&quot;}"/>
</p:tagLst>
</file>

<file path=ppt/tags/tag4.xml><?xml version="1.0" encoding="utf-8"?>
<p:tagLst xmlns:p="http://schemas.openxmlformats.org/presentationml/2006/main">
  <p:tag name="aiwordart" val="{&quot;id&quot;:&quot;12934973997_1779430403800&quot;,&quot;md5&quot;:&quot;9d8a072e4aa49457a7ebb67f5c4609f2&quot;}"/>
  <p:tag name="KSO_DOCER_RESOURCE_TRACE_INFO" val="{&quot;id&quot;:&quot;12934973997_1779430403800&quot;,&quot;origin&quot;:0,&quot;type&quot;:&quot;pictures&quot;,&quot;user&quot;:&quot;1581052606&quot;}"/>
</p:tagLst>
</file>

<file path=ppt/tags/tag5.xml><?xml version="1.0" encoding="utf-8"?>
<p:tagLst xmlns:p="http://schemas.openxmlformats.org/presentationml/2006/main">
  <p:tag name="aiwordart" val="{&quot;id&quot;:&quot;12934973997_1779430566134&quot;,&quot;md5&quot;:&quot;e59b8a06da78565189f4ae23ad0f9d35&quot;}"/>
  <p:tag name="KSO_DOCER_RESOURCE_TRACE_INFO" val="{&quot;id&quot;:&quot;12934973997_1779430566134&quot;,&quot;origin&quot;:0,&quot;type&quot;:&quot;pictures&quot;,&quot;user&quot;:&quot;1581052606&quot;}"/>
</p:tagLst>
</file>

<file path=ppt/tags/tag6.xml><?xml version="1.0" encoding="utf-8"?>
<p:tagLst xmlns:p="http://schemas.openxmlformats.org/presentationml/2006/main">
  <p:tag name="aiwordart" val="{&quot;id&quot;:&quot;12934973997_1779430310050&quot;,&quot;md5&quot;:&quot;0e76a5ae7af8ab90cc26b236fde7d4d1&quot;}"/>
  <p:tag name="KSO_DOCER_RESOURCE_TRACE_INFO" val="{&quot;id&quot;:&quot;12934973997_1779430310050&quot;,&quot;origin&quot;:0,&quot;type&quot;:&quot;pictures&quot;,&quot;user&quot;:&quot;1581052606&quot;}"/>
</p:tagLst>
</file>

<file path=ppt/tags/tag7.xml><?xml version="1.0" encoding="utf-8"?>
<p:tagLst xmlns:p="http://schemas.openxmlformats.org/presentationml/2006/main">
  <p:tag name="aiwordart" val="{&quot;id&quot;:&quot;12934973997_1779430403800&quot;,&quot;md5&quot;:&quot;9d8a072e4aa49457a7ebb67f5c4609f2&quot;}"/>
  <p:tag name="KSO_DOCER_RESOURCE_TRACE_INFO" val="{&quot;id&quot;:&quot;12934973997_1779430403800&quot;,&quot;origin&quot;:0,&quot;type&quot;:&quot;pictures&quot;,&quot;user&quot;:&quot;1581052606&quot;}"/>
</p:tagLst>
</file>

<file path=ppt/tags/tag8.xml><?xml version="1.0" encoding="utf-8"?>
<p:tagLst xmlns:p="http://schemas.openxmlformats.org/presentationml/2006/main">
  <p:tag name="aiwordart" val="{&quot;id&quot;:&quot;12934973997_1779430403800&quot;,&quot;md5&quot;:&quot;9d8a072e4aa49457a7ebb67f5c4609f2&quot;}"/>
  <p:tag name="KSO_DOCER_RESOURCE_TRACE_INFO" val="{&quot;id&quot;:&quot;12934973997_1779430403800&quot;,&quot;origin&quot;:0,&quot;type&quot;:&quot;pictures&quot;,&quot;user&quot;:&quot;1581052606&quot;}"/>
</p:tagLst>
</file>

<file path=ppt/tags/tag9.xml><?xml version="1.0" encoding="utf-8"?>
<p:tagLst xmlns:p="http://schemas.openxmlformats.org/presentationml/2006/main">
  <p:tag name="KSO_WM_DIAGRAM_VIRTUALLY_FRAME" val="{&quot;height&quot;:258.48,&quot;left&quot;:404.64,&quot;top&quot;:120.96,&quot;width&quot;:355.3}"/>
</p:tagLst>
</file>

<file path=ppt/tags/tag10.xml><?xml version="1.0" encoding="utf-8"?>
<p:tagLst xmlns:p="http://schemas.openxmlformats.org/presentationml/2006/main">
  <p:tag name="KSO_WM_DIAGRAM_VIRTUALLY_FRAME" val="{&quot;height&quot;:258.48,&quot;left&quot;:404.64,&quot;top&quot;:120.96,&quot;width&quot;:355.3}"/>
</p:tagLst>
</file>

<file path=ppt/tags/tag11.xml><?xml version="1.0" encoding="utf-8"?>
<p:tagLst xmlns:p="http://schemas.openxmlformats.org/presentationml/2006/main">
  <p:tag name="KSO_WM_DIAGRAM_VIRTUALLY_FRAME" val="{&quot;height&quot;:258.48,&quot;left&quot;:404.64,&quot;top&quot;:120.96,&quot;width&quot;:355.3}"/>
</p:tagLst>
</file>

<file path=ppt/tags/tag12.xml><?xml version="1.0" encoding="utf-8"?>
<p:tagLst xmlns:p="http://schemas.openxmlformats.org/presentationml/2006/main">
  <p:tag name="KSO_WM_DIAGRAM_VIRTUALLY_FRAME" val="{&quot;height&quot;:258.48,&quot;left&quot;:404.64,&quot;top&quot;:120.96,&quot;width&quot;:355.3}"/>
</p:tagLst>
</file>

<file path=ppt/tags/tag13.xml><?xml version="1.0" encoding="utf-8"?>
<p:tagLst xmlns:p="http://schemas.openxmlformats.org/presentationml/2006/main">
  <p:tag name="KSO_WM_DIAGRAM_VIRTUALLY_FRAME" val="{&quot;height&quot;:258.48,&quot;left&quot;:404.64,&quot;top&quot;:120.96,&quot;width&quot;:355.3}"/>
</p:tagLst>
</file>

<file path=ppt/tags/tag14.xml><?xml version="1.0" encoding="utf-8"?>
<p:tagLst xmlns:p="http://schemas.openxmlformats.org/presentationml/2006/main">
  <p:tag name="KSO_WM_DIAGRAM_VIRTUALLY_FRAME" val="{&quot;height&quot;:258.48,&quot;left&quot;:404.64,&quot;top&quot;:120.96,&quot;width&quot;:355.3}"/>
</p:tagLst>
</file>

<file path=ppt/tags/tag15.xml><?xml version="1.0" encoding="utf-8"?>
<p:tagLst xmlns:p="http://schemas.openxmlformats.org/presentationml/2006/main">
  <p:tag name="KSO_WM_DIAGRAM_VIRTUALLY_FRAME" val="{&quot;height&quot;:258.48,&quot;left&quot;:404.64,&quot;top&quot;:120.96,&quot;width&quot;:355.3}"/>
</p:tagLst>
</file>

<file path=ppt/tags/tag16.xml><?xml version="1.0" encoding="utf-8"?>
<p:tagLst xmlns:p="http://schemas.openxmlformats.org/presentationml/2006/main">
  <p:tag name="KSO_WM_DIAGRAM_VIRTUALLY_FRAME" val="{&quot;height&quot;:258.48,&quot;left&quot;:404.64,&quot;top&quot;:120.96,&quot;width&quot;:355.3}"/>
</p:tagLst>
</file>

<file path=ppt/tags/tag17.xml><?xml version="1.0" encoding="utf-8"?>
<p:tagLst xmlns:p="http://schemas.openxmlformats.org/presentationml/2006/main">
  <p:tag name="KSO_WM_DIAGRAM_VIRTUALLY_FRAME" val="{&quot;height&quot;:258.48,&quot;left&quot;:404.64,&quot;top&quot;:120.96,&quot;width&quot;:355.3}"/>
</p:tagLst>
</file>

<file path=ppt/tags/tag18.xml><?xml version="1.0" encoding="utf-8"?>
<p:tagLst xmlns:p="http://schemas.openxmlformats.org/presentationml/2006/main">
  <p:tag name="KSO_WM_DIAGRAM_VIRTUALLY_FRAME" val="{&quot;height&quot;:258.48,&quot;left&quot;:404.64,&quot;top&quot;:120.96,&quot;width&quot;:355.3}"/>
</p:tagLst>
</file>

<file path=ppt/tags/tag19.xml><?xml version="1.0" encoding="utf-8"?>
<p:tagLst xmlns:p="http://schemas.openxmlformats.org/presentationml/2006/main">
  <p:tag name="aiwordart" val="{&quot;id&quot;:&quot;12934973997_1779430566134&quot;,&quot;md5&quot;:&quot;e59b8a06da78565189f4ae23ad0f9d35&quot;}"/>
  <p:tag name="KSO_DOCER_RESOURCE_TRACE_INFO" val="{&quot;id&quot;:&quot;12934973997_1779430566134&quot;,&quot;origin&quot;:0,&quot;type&quot;:&quot;pictures&quot;,&quot;user&quot;:&quot;1581052606&quot;}"/>
</p:tagLst>
</file>

<file path=ppt/tags/tag20.xml><?xml version="1.0" encoding="utf-8"?>
<p:tagLst xmlns:p="http://schemas.openxmlformats.org/presentationml/2006/main">
  <p:tag name="aiwordart" val="{&quot;id&quot;:&quot;12934973997_1779430566134&quot;,&quot;md5&quot;:&quot;e59b8a06da78565189f4ae23ad0f9d35&quot;}"/>
  <p:tag name="KSO_DOCER_RESOURCE_TRACE_INFO" val="{&quot;id&quot;:&quot;12934973997_1779430566134&quot;,&quot;origin&quot;:0,&quot;type&quot;:&quot;pictures&quot;,&quot;user&quot;:&quot;1581052606&quot;}"/>
</p:tagLst>
</file>

<file path=ppt/tags/tag21.xml><?xml version="1.0" encoding="utf-8"?>
<p:tagLst xmlns:p="http://schemas.openxmlformats.org/presentationml/2006/main">
  <p:tag name="KSO_DOCER_RESOURCE_TRACE_INFO" val="{&quot;id&quot;:&quot;25125218&quot;,&quot;origin&quot;:0,&quot;type&quot;:&quot;wordart&quot;,&quot;user&quot;:&quot;1581052606&quot;}"/>
</p:tagLst>
</file>

<file path=ppt/tags/tag22.xml><?xml version="1.0" encoding="utf-8"?>
<p:tagLst xmlns:p="http://schemas.openxmlformats.org/presentationml/2006/main">
  <p:tag name="resource_record_key" val="{&quot;10&quot;:[50062362,50063697,50059183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3682</Words>
  <Application>WPS 演示</Application>
  <PresentationFormat>On-screen Show (16:9)</PresentationFormat>
  <Paragraphs>420</Paragraphs>
  <Slides>13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微软雅黑</vt:lpstr>
      <vt:lpstr>Georgia</vt:lpstr>
      <vt:lpstr>Georgia</vt:lpstr>
      <vt:lpstr>Georgia</vt:lpstr>
      <vt:lpstr>Consolas</vt:lpstr>
      <vt:lpstr>Consolas</vt:lpstr>
      <vt:lpstr>Consolas</vt:lpstr>
      <vt:lpstr>字魂馆藏山海经体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基于Dify平台的智能新闻机器人</dc:title>
  <dc:creator>胥雯强</dc:creator>
  <dc:subject>PptxGenJS Presentation</dc:subject>
  <cp:lastModifiedBy>Xuyu</cp:lastModifiedBy>
  <cp:revision>9</cp:revision>
  <dcterms:created xsi:type="dcterms:W3CDTF">2026-05-20T02:34:00Z</dcterms:created>
  <dcterms:modified xsi:type="dcterms:W3CDTF">2026-05-25T13:45:31Z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2052-12.1.0.26373</vt:lpwstr>
  </property>
  <property fmtid="{D5CDD505-2E9C-101B-9397-08002B2CF9AE}" pid="3" name="ICV">
    <vt:lpwstr>E5DD7E8CE69642F5AAE35992FA46139B_12</vt:lpwstr>
  </property>
</Properties>
</file>